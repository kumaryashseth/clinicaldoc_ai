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type="screen4x3" cy="6858000" cx="12191695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tableStyles" Target="tableStyle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903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903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904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904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90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104859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/>
        </p:txBody>
      </p:sp>
      <p:sp>
        <p:nvSpPr>
          <p:cNvPr id="1048596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1048616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/>
        </p:txBody>
      </p:sp>
      <p:sp>
        <p:nvSpPr>
          <p:cNvPr id="1048617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104865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/>
        </p:txBody>
      </p:sp>
      <p:sp>
        <p:nvSpPr>
          <p:cNvPr id="1048652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104869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/>
        </p:txBody>
      </p:sp>
      <p:sp>
        <p:nvSpPr>
          <p:cNvPr id="1048692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1048744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/>
        </p:txBody>
      </p:sp>
      <p:sp>
        <p:nvSpPr>
          <p:cNvPr id="1048745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4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104879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/>
        </p:txBody>
      </p:sp>
      <p:sp>
        <p:nvSpPr>
          <p:cNvPr id="1048796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104884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/>
        </p:txBody>
      </p:sp>
      <p:sp>
        <p:nvSpPr>
          <p:cNvPr id="1048848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5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1048886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/>
        </p:txBody>
      </p:sp>
      <p:sp>
        <p:nvSpPr>
          <p:cNvPr id="1048887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4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104893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/>
        </p:txBody>
      </p:sp>
      <p:sp>
        <p:nvSpPr>
          <p:cNvPr id="1048936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8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1048969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/>
        </p:txBody>
      </p:sp>
      <p:sp>
        <p:nvSpPr>
          <p:cNvPr id="1048970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9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1048980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t>Thank you for your time. I'm happy to take any questions — whether about the technical implementation, the architecture decisions, how this could integrate with Cotiviti's existing workflows, or the future roadmap. I have a working demo ready to show if you'd like to see the system in action.</a:t>
            </a:r>
          </a:p>
        </p:txBody>
      </p:sp>
      <p:sp>
        <p:nvSpPr>
          <p:cNvPr id="1048981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8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98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98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8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9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9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99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0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01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01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01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01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1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2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02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2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02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02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2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02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2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02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3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8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98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9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03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3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03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03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3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1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00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900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00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00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0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00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00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0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1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9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9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/>
      </p:grpSpPr>
      <p:sp>
        <p:nvSpPr>
          <p:cNvPr id="1048584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5" name="Rectangle 2"/>
          <p:cNvSpPr/>
          <p:nvPr/>
        </p:nvSpPr>
        <p:spPr>
          <a:xfrm>
            <a:off x="0" y="0"/>
            <a:ext cx="12191695" cy="73152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6" name="Rectangle 3"/>
          <p:cNvSpPr/>
          <p:nvPr/>
        </p:nvSpPr>
        <p:spPr>
          <a:xfrm>
            <a:off x="0" y="2286000"/>
            <a:ext cx="73152" cy="2286000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7" name="TextBox 4"/>
          <p:cNvSpPr txBox="1"/>
          <p:nvPr/>
        </p:nvSpPr>
        <p:spPr>
          <a:xfrm>
            <a:off x="1371600" y="1371600"/>
            <a:ext cx="9144000" cy="822960"/>
          </a:xfrm>
          <a:prstGeom prst="rect"/>
          <a:noFill/>
        </p:spPr>
        <p:txBody>
          <a:bodyPr anchor="t" wrap="square"/>
          <a:p>
            <a:pPr algn="ctr">
              <a:defRPr b="0" sz="4800">
                <a:solidFill>
                  <a:srgbClr val="FFFFFF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1048588" name="TextBox 5"/>
          <p:cNvSpPr txBox="1"/>
          <p:nvPr/>
        </p:nvSpPr>
        <p:spPr>
          <a:xfrm>
            <a:off x="1371600" y="2194560"/>
            <a:ext cx="9144000" cy="914400"/>
          </a:xfrm>
          <a:prstGeom prst="rect"/>
          <a:noFill/>
        </p:spPr>
        <p:txBody>
          <a:bodyPr anchor="t" wrap="square"/>
          <a:p>
            <a:pPr algn="ctr">
              <a:defRPr b="1" sz="5200">
                <a:solidFill>
                  <a:srgbClr val="FFFFFF"/>
                </a:solidFill>
                <a:latin typeface="Aptos"/>
              </a:defRPr>
            </a:pPr>
            <a:r>
              <a:t>ClinicalDoc AI</a:t>
            </a:r>
          </a:p>
        </p:txBody>
      </p:sp>
      <p:sp>
        <p:nvSpPr>
          <p:cNvPr id="1048589" name="TextBox 6"/>
          <p:cNvSpPr txBox="1"/>
          <p:nvPr/>
        </p:nvSpPr>
        <p:spPr>
          <a:xfrm>
            <a:off x="1371600" y="3108960"/>
            <a:ext cx="9144000" cy="731520"/>
          </a:xfrm>
          <a:prstGeom prst="rect"/>
          <a:noFill/>
        </p:spPr>
        <p:txBody>
          <a:bodyPr anchor="t" wrap="square"/>
          <a:p>
            <a:pPr algn="ctr">
              <a:defRPr b="0" sz="2000">
                <a:solidFill>
                  <a:srgbClr val="2B8EC4"/>
                </a:solidFill>
                <a:latin typeface="Calibri"/>
              </a:defRPr>
            </a:pPr>
            <a:r>
              <a:t>Hybrid Retrieval-Augmented Clinical Document Intelligence</a:t>
            </a:r>
            <a:br/>
            <a:r>
              <a:t>for Healthcare</a:t>
            </a:r>
          </a:p>
        </p:txBody>
      </p:sp>
      <p:sp>
        <p:nvSpPr>
          <p:cNvPr id="1048590" name="Rectangle 7"/>
          <p:cNvSpPr/>
          <p:nvPr/>
        </p:nvSpPr>
        <p:spPr>
          <a:xfrm>
            <a:off x="4572000" y="4069080"/>
            <a:ext cx="3017520" cy="27432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1" name="TextBox 8"/>
          <p:cNvSpPr txBox="1"/>
          <p:nvPr/>
        </p:nvSpPr>
        <p:spPr>
          <a:xfrm>
            <a:off x="1371600" y="4343400"/>
            <a:ext cx="9144000" cy="457200"/>
          </a:xfrm>
          <a:prstGeom prst="rect"/>
          <a:noFill/>
        </p:spPr>
        <p:txBody>
          <a:bodyPr anchor="t" wrap="square"/>
          <a:p>
            <a:pPr algn="ctr">
              <a:defRPr b="0" sz="1600">
                <a:solidFill>
                  <a:srgbClr val="8AAACC"/>
                </a:solidFill>
                <a:latin typeface="Calibri"/>
              </a:defRPr>
            </a:pPr>
            <a:r>
              <a:t>Intern Assessment Submission  •  Cotiviti</a:t>
            </a:r>
          </a:p>
        </p:txBody>
      </p:sp>
      <p:sp>
        <p:nvSpPr>
          <p:cNvPr id="1048592" name="TextBox 9"/>
          <p:cNvSpPr txBox="1"/>
          <p:nvPr/>
        </p:nvSpPr>
        <p:spPr>
          <a:xfrm>
            <a:off x="1371600" y="4800600"/>
            <a:ext cx="9144000" cy="457200"/>
          </a:xfrm>
          <a:prstGeom prst="rect"/>
          <a:noFill/>
        </p:spPr>
        <p:txBody>
          <a:bodyPr anchor="t" wrap="square"/>
          <a:p>
            <a:pPr algn="ctr">
              <a:defRPr b="0" sz="1300">
                <a:solidFill>
                  <a:srgbClr val="6B8BAB"/>
                </a:solidFill>
                <a:latin typeface="Calibri"/>
              </a:defRPr>
            </a:pPr>
            <a:r>
              <a:t>Topic: Clinical Natural Language Technology for Health Care</a:t>
            </a:r>
          </a:p>
        </p:txBody>
      </p:sp>
      <p:sp>
        <p:nvSpPr>
          <p:cNvPr id="1048593" name="Rectangle 10"/>
          <p:cNvSpPr/>
          <p:nvPr/>
        </p:nvSpPr>
        <p:spPr>
          <a:xfrm>
            <a:off x="0" y="6803136"/>
            <a:ext cx="12191695" cy="54864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/>
      </p:grpSpPr>
      <p:sp>
        <p:nvSpPr>
          <p:cNvPr id="1048597" name="Rectangle 1"/>
          <p:cNvSpPr/>
          <p:nvPr/>
        </p:nvSpPr>
        <p:spPr>
          <a:xfrm>
            <a:off x="0" y="0"/>
            <a:ext cx="12191695" cy="54864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8" name="TextBox 2"/>
          <p:cNvSpPr txBox="1"/>
          <p:nvPr/>
        </p:nvSpPr>
        <p:spPr>
          <a:xfrm>
            <a:off x="640080" y="320040"/>
            <a:ext cx="9144000" cy="548640"/>
          </a:xfrm>
          <a:prstGeom prst="rect"/>
          <a:noFill/>
        </p:spPr>
        <p:txBody>
          <a:bodyPr anchor="t" wrap="square"/>
          <a:p>
            <a:pPr algn="l">
              <a:defRPr b="1" sz="3000">
                <a:solidFill>
                  <a:srgbClr val="0F2B46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048599" name="TextBox 3"/>
          <p:cNvSpPr txBox="1"/>
          <p:nvPr/>
        </p:nvSpPr>
        <p:spPr>
          <a:xfrm>
            <a:off x="640080" y="868680"/>
            <a:ext cx="9144000" cy="320040"/>
          </a:xfrm>
          <a:prstGeom prst="rect"/>
          <a:noFill/>
        </p:spPr>
        <p:txBody>
          <a:bodyPr anchor="t" wrap="square"/>
          <a:p>
            <a:pPr algn="l">
              <a:defRPr b="0" sz="1400">
                <a:solidFill>
                  <a:srgbClr val="6B7B8D"/>
                </a:solidFill>
                <a:latin typeface="Calibri"/>
              </a:defRPr>
            </a:pPr>
            <a:r>
              <a:t>Why clinical document intelligence matters</a:t>
            </a:r>
          </a:p>
        </p:txBody>
      </p:sp>
      <p:sp>
        <p:nvSpPr>
          <p:cNvPr id="1048600" name="Rectangle 4"/>
          <p:cNvSpPr/>
          <p:nvPr/>
        </p:nvSpPr>
        <p:spPr>
          <a:xfrm>
            <a:off x="640080" y="1188720"/>
            <a:ext cx="1645920" cy="32004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1" name="Rounded Rectangle 5"/>
          <p:cNvSpPr/>
          <p:nvPr/>
        </p:nvSpPr>
        <p:spPr>
          <a:xfrm>
            <a:off x="640080" y="1554480"/>
            <a:ext cx="3383280" cy="3474720"/>
          </a:xfrm>
          <a:prstGeom prst="roundRect"/>
          <a:solidFill>
            <a:srgbClr val="F5F7FA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2" name="TextBox 6"/>
          <p:cNvSpPr txBox="1"/>
          <p:nvPr/>
        </p:nvSpPr>
        <p:spPr>
          <a:xfrm>
            <a:off x="640080" y="1691640"/>
            <a:ext cx="3383280" cy="457200"/>
          </a:xfrm>
          <a:prstGeom prst="rect"/>
          <a:noFill/>
        </p:spPr>
        <p:txBody>
          <a:bodyPr anchor="t" wrap="square"/>
          <a:p>
            <a:pPr algn="ctr">
              <a:defRPr b="0" sz="2800">
                <a:solidFill>
                  <a:srgbClr val="2B8EC4"/>
                </a:solidFill>
                <a:latin typeface="Segoe UI"/>
              </a:defRPr>
            </a:pPr>
            <a:r>
              <a:t>📄</a:t>
            </a:r>
          </a:p>
        </p:txBody>
      </p:sp>
      <p:sp>
        <p:nvSpPr>
          <p:cNvPr id="1048603" name="TextBox 7"/>
          <p:cNvSpPr txBox="1"/>
          <p:nvPr/>
        </p:nvSpPr>
        <p:spPr>
          <a:xfrm>
            <a:off x="731520" y="2148840"/>
            <a:ext cx="3200400" cy="320040"/>
          </a:xfrm>
          <a:prstGeom prst="rect"/>
          <a:noFill/>
        </p:spPr>
        <p:txBody>
          <a:bodyPr anchor="t" wrap="square"/>
          <a:p>
            <a:pPr algn="ctr">
              <a:defRPr b="1" sz="1200">
                <a:solidFill>
                  <a:srgbClr val="0F2B46"/>
                </a:solidFill>
                <a:latin typeface="Aptos"/>
              </a:defRPr>
            </a:pPr>
            <a:r>
              <a:t>Clinical Document Overload</a:t>
            </a:r>
          </a:p>
        </p:txBody>
      </p:sp>
      <p:sp>
        <p:nvSpPr>
          <p:cNvPr id="1048604" name="TextBox 8"/>
          <p:cNvSpPr txBox="1"/>
          <p:nvPr/>
        </p:nvSpPr>
        <p:spPr>
          <a:xfrm>
            <a:off x="731520" y="2423160"/>
            <a:ext cx="3200400" cy="2468880"/>
          </a:xfrm>
          <a:prstGeom prst="rect"/>
          <a:noFill/>
        </p:spPr>
        <p:txBody>
          <a:bodyPr anchor="t" wrap="square"/>
          <a:p>
            <a:pPr algn="ctr">
              <a:defRPr b="0" sz="1000">
                <a:solidFill>
                  <a:srgbClr val="6B7B8D"/>
                </a:solidFill>
                <a:latin typeface="Calibri"/>
              </a:defRPr>
            </a:pPr>
            <a:r>
              <a:t>The U.S. healthcare system generates</a:t>
            </a:r>
            <a:br/>
            <a:r>
              <a:t>massive volumes of unstructured</a:t>
            </a:r>
            <a:br/>
            <a:r>
              <a:t>clinical documents — discharge</a:t>
            </a:r>
            <a:br/>
            <a:r>
              <a:t>summaries, operative notes,</a:t>
            </a:r>
            <a:br/>
            <a:r>
              <a:t>radiology reports, and payer</a:t>
            </a:r>
            <a:br/>
            <a:r>
              <a:t>correspondence.</a:t>
            </a:r>
          </a:p>
        </p:txBody>
      </p:sp>
      <p:sp>
        <p:nvSpPr>
          <p:cNvPr id="1048605" name="Rounded Rectangle 9"/>
          <p:cNvSpPr/>
          <p:nvPr/>
        </p:nvSpPr>
        <p:spPr>
          <a:xfrm>
            <a:off x="4343400" y="1554480"/>
            <a:ext cx="3383280" cy="3474720"/>
          </a:xfrm>
          <a:prstGeom prst="roundRect"/>
          <a:solidFill>
            <a:srgbClr val="F5F7FA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6" name="TextBox 10"/>
          <p:cNvSpPr txBox="1"/>
          <p:nvPr/>
        </p:nvSpPr>
        <p:spPr>
          <a:xfrm>
            <a:off x="4343400" y="1691640"/>
            <a:ext cx="3383280" cy="457200"/>
          </a:xfrm>
          <a:prstGeom prst="rect"/>
          <a:noFill/>
        </p:spPr>
        <p:txBody>
          <a:bodyPr anchor="t" wrap="square"/>
          <a:p>
            <a:pPr algn="ctr">
              <a:defRPr b="0" sz="2800">
                <a:solidFill>
                  <a:srgbClr val="2B8EC4"/>
                </a:solidFill>
                <a:latin typeface="Segoe UI"/>
              </a:defRPr>
            </a:pPr>
            <a:r>
              <a:t>⏱️</a:t>
            </a:r>
          </a:p>
        </p:txBody>
      </p:sp>
      <p:sp>
        <p:nvSpPr>
          <p:cNvPr id="1048607" name="TextBox 11"/>
          <p:cNvSpPr txBox="1"/>
          <p:nvPr/>
        </p:nvSpPr>
        <p:spPr>
          <a:xfrm>
            <a:off x="4434840" y="2148840"/>
            <a:ext cx="3200400" cy="320040"/>
          </a:xfrm>
          <a:prstGeom prst="rect"/>
          <a:noFill/>
        </p:spPr>
        <p:txBody>
          <a:bodyPr anchor="t" wrap="square"/>
          <a:p>
            <a:pPr algn="ctr">
              <a:defRPr b="1" sz="1200">
                <a:solidFill>
                  <a:srgbClr val="0F2B46"/>
                </a:solidFill>
                <a:latin typeface="Aptos"/>
              </a:defRPr>
            </a:pPr>
            <a:r>
              <a:t>Manual Review Bottleneck</a:t>
            </a:r>
          </a:p>
        </p:txBody>
      </p:sp>
      <p:sp>
        <p:nvSpPr>
          <p:cNvPr id="1048608" name="TextBox 12"/>
          <p:cNvSpPr txBox="1"/>
          <p:nvPr/>
        </p:nvSpPr>
        <p:spPr>
          <a:xfrm>
            <a:off x="4434840" y="2423160"/>
            <a:ext cx="3200400" cy="2468880"/>
          </a:xfrm>
          <a:prstGeom prst="rect"/>
          <a:noFill/>
        </p:spPr>
        <p:txBody>
          <a:bodyPr anchor="t" wrap="square"/>
          <a:p>
            <a:pPr algn="ctr">
              <a:defRPr b="0" sz="1000">
                <a:solidFill>
                  <a:srgbClr val="6B7B8D"/>
                </a:solidFill>
                <a:latin typeface="Calibri"/>
              </a:defRPr>
            </a:pPr>
            <a:r>
              <a:t>Clinical reviewers read multi-page</a:t>
            </a:r>
            <a:br/>
            <a:r>
              <a:t>PDFs page by page, locating relevant</a:t>
            </a:r>
            <a:br/>
            <a:r>
              <a:t>passages manually. This process is</a:t>
            </a:r>
            <a:br/>
            <a:r>
              <a:t>slow, inconsistent, and constrained</a:t>
            </a:r>
            <a:br/>
            <a:r>
              <a:t>by human reading speed.</a:t>
            </a:r>
          </a:p>
        </p:txBody>
      </p:sp>
      <p:sp>
        <p:nvSpPr>
          <p:cNvPr id="1048609" name="Rounded Rectangle 13"/>
          <p:cNvSpPr/>
          <p:nvPr/>
        </p:nvSpPr>
        <p:spPr>
          <a:xfrm>
            <a:off x="8046720" y="1554480"/>
            <a:ext cx="3383280" cy="3474720"/>
          </a:xfrm>
          <a:prstGeom prst="roundRect"/>
          <a:solidFill>
            <a:srgbClr val="F5F7FA"/>
          </a:solidFill>
          <a:ln w="1270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0" name="TextBox 14"/>
          <p:cNvSpPr txBox="1"/>
          <p:nvPr/>
        </p:nvSpPr>
        <p:spPr>
          <a:xfrm>
            <a:off x="8046720" y="1691640"/>
            <a:ext cx="3383280" cy="457200"/>
          </a:xfrm>
          <a:prstGeom prst="rect"/>
          <a:noFill/>
        </p:spPr>
        <p:txBody>
          <a:bodyPr anchor="t" wrap="square"/>
          <a:p>
            <a:pPr algn="ctr">
              <a:defRPr b="0" sz="2800">
                <a:solidFill>
                  <a:srgbClr val="2B8EC4"/>
                </a:solidFill>
                <a:latin typeface="Segoe UI"/>
              </a:defRPr>
            </a:pPr>
            <a:r>
              <a:t>🤖</a:t>
            </a:r>
          </a:p>
        </p:txBody>
      </p:sp>
      <p:sp>
        <p:nvSpPr>
          <p:cNvPr id="1048611" name="TextBox 15"/>
          <p:cNvSpPr txBox="1"/>
          <p:nvPr/>
        </p:nvSpPr>
        <p:spPr>
          <a:xfrm>
            <a:off x="8138160" y="2148840"/>
            <a:ext cx="3200400" cy="320040"/>
          </a:xfrm>
          <a:prstGeom prst="rect"/>
          <a:noFill/>
        </p:spPr>
        <p:txBody>
          <a:bodyPr anchor="t" wrap="square"/>
          <a:p>
            <a:pPr algn="ctr">
              <a:defRPr b="1" sz="1200">
                <a:solidFill>
                  <a:srgbClr val="0F2B46"/>
                </a:solidFill>
                <a:latin typeface="Aptos"/>
              </a:defRPr>
            </a:pPr>
            <a:r>
              <a:t>Need for Intelligent Retrieval</a:t>
            </a:r>
          </a:p>
        </p:txBody>
      </p:sp>
      <p:sp>
        <p:nvSpPr>
          <p:cNvPr id="1048612" name="TextBox 16"/>
          <p:cNvSpPr txBox="1"/>
          <p:nvPr/>
        </p:nvSpPr>
        <p:spPr>
          <a:xfrm>
            <a:off x="8138160" y="2423160"/>
            <a:ext cx="3200400" cy="2468880"/>
          </a:xfrm>
          <a:prstGeom prst="rect"/>
          <a:noFill/>
        </p:spPr>
        <p:txBody>
          <a:bodyPr anchor="t" wrap="square"/>
          <a:p>
            <a:pPr algn="ctr">
              <a:defRPr b="0" sz="1000">
                <a:solidFill>
                  <a:srgbClr val="6B7B8D"/>
                </a:solidFill>
                <a:latin typeface="Calibri"/>
              </a:defRPr>
            </a:pPr>
            <a:r>
              <a:t>The bottleneck is not clinical</a:t>
            </a:r>
            <a:br/>
            <a:r>
              <a:t>expertise — it is information</a:t>
            </a:r>
            <a:br/>
            <a:r>
              <a:t>retrieval. Healthcare needs AI</a:t>
            </a:r>
            <a:br/>
            <a:r>
              <a:t>systems that can retrieve the</a:t>
            </a:r>
            <a:br/>
            <a:r>
              <a:t>right evidence and present it</a:t>
            </a:r>
            <a:br/>
            <a:r>
              <a:t>transparently with source citations.</a:t>
            </a:r>
          </a:p>
        </p:txBody>
      </p:sp>
      <p:sp>
        <p:nvSpPr>
          <p:cNvPr id="1048613" name="Rectangle 17"/>
          <p:cNvSpPr/>
          <p:nvPr/>
        </p:nvSpPr>
        <p:spPr>
          <a:xfrm>
            <a:off x="640080" y="5349240"/>
            <a:ext cx="10881360" cy="548640"/>
          </a:xfrm>
          <a:prstGeom prst="rect"/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4" name="TextBox 18"/>
          <p:cNvSpPr txBox="1"/>
          <p:nvPr/>
        </p:nvSpPr>
        <p:spPr>
          <a:xfrm>
            <a:off x="914400" y="5349240"/>
            <a:ext cx="10424160" cy="548640"/>
          </a:xfrm>
          <a:prstGeom prst="rect"/>
          <a:noFill/>
        </p:spPr>
        <p:txBody>
          <a:bodyPr anchor="ctr" wrap="square"/>
          <a:p>
            <a:pPr algn="l">
              <a:defRPr b="0" sz="1200">
                <a:solidFill>
                  <a:srgbClr val="FFFFFF"/>
                </a:solidFill>
                <a:latin typeface="Calibri"/>
              </a:defRPr>
            </a:pPr>
            <a:r>
              <a:t>💡  Cotiviti's payment integrity, utilization management, and clinical documentation review all depend on extracting accurate information from medical records at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/>
      </p:grpSpPr>
      <p:sp>
        <p:nvSpPr>
          <p:cNvPr id="1048618" name="Rectangle 1"/>
          <p:cNvSpPr/>
          <p:nvPr/>
        </p:nvSpPr>
        <p:spPr>
          <a:xfrm>
            <a:off x="0" y="0"/>
            <a:ext cx="12191695" cy="54864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9" name="TextBox 2"/>
          <p:cNvSpPr txBox="1"/>
          <p:nvPr/>
        </p:nvSpPr>
        <p:spPr>
          <a:xfrm>
            <a:off x="640080" y="320040"/>
            <a:ext cx="9144000" cy="548640"/>
          </a:xfrm>
          <a:prstGeom prst="rect"/>
          <a:noFill/>
        </p:spPr>
        <p:txBody>
          <a:bodyPr anchor="t" wrap="square"/>
          <a:p>
            <a:pPr algn="l">
              <a:defRPr b="1" sz="3000">
                <a:solidFill>
                  <a:srgbClr val="0F2B46"/>
                </a:solidFill>
                <a:latin typeface="Aptos"/>
              </a:defRPr>
            </a:pPr>
            <a:r>
              <a:t>Evolution of Clinical NLP</a:t>
            </a:r>
          </a:p>
        </p:txBody>
      </p:sp>
      <p:sp>
        <p:nvSpPr>
          <p:cNvPr id="1048620" name="TextBox 3"/>
          <p:cNvSpPr txBox="1"/>
          <p:nvPr/>
        </p:nvSpPr>
        <p:spPr>
          <a:xfrm>
            <a:off x="640080" y="868680"/>
            <a:ext cx="9144000" cy="320040"/>
          </a:xfrm>
          <a:prstGeom prst="rect"/>
          <a:noFill/>
        </p:spPr>
        <p:txBody>
          <a:bodyPr anchor="t" wrap="square"/>
          <a:p>
            <a:pPr algn="l">
              <a:defRPr b="0" sz="1400">
                <a:solidFill>
                  <a:srgbClr val="6B7B8D"/>
                </a:solidFill>
                <a:latin typeface="Calibri"/>
              </a:defRPr>
            </a:pPr>
            <a:r>
              <a:t>From rules to retrieval-augmented generation</a:t>
            </a:r>
          </a:p>
        </p:txBody>
      </p:sp>
      <p:sp>
        <p:nvSpPr>
          <p:cNvPr id="1048621" name="Rectangle 4"/>
          <p:cNvSpPr/>
          <p:nvPr/>
        </p:nvSpPr>
        <p:spPr>
          <a:xfrm>
            <a:off x="640080" y="1188720"/>
            <a:ext cx="1645920" cy="32004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2" name="Rounded Rectangle 5"/>
          <p:cNvSpPr/>
          <p:nvPr/>
        </p:nvSpPr>
        <p:spPr>
          <a:xfrm>
            <a:off x="640080" y="1691640"/>
            <a:ext cx="3291840" cy="1508760"/>
          </a:xfrm>
          <a:prstGeom prst="roundRect"/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3" name="TextBox 6"/>
          <p:cNvSpPr txBox="1"/>
          <p:nvPr/>
        </p:nvSpPr>
        <p:spPr>
          <a:xfrm>
            <a:off x="777240" y="1801368"/>
            <a:ext cx="3017520" cy="274320"/>
          </a:xfrm>
          <a:prstGeom prst="rect"/>
          <a:noFill/>
        </p:spPr>
        <p:txBody>
          <a:bodyPr anchor="t" wrap="square"/>
          <a:p>
            <a:pPr algn="l">
              <a:defRPr b="1" sz="1300">
                <a:solidFill>
                  <a:srgbClr val="0F2B46"/>
                </a:solidFill>
                <a:latin typeface="Calibri"/>
              </a:defRPr>
            </a:pPr>
            <a:r>
              <a:t>📋  Phase 1: Rule-Based Systems</a:t>
            </a:r>
          </a:p>
        </p:txBody>
      </p:sp>
      <p:sp>
        <p:nvSpPr>
          <p:cNvPr id="1048624" name="TextBox 7"/>
          <p:cNvSpPr txBox="1"/>
          <p:nvPr/>
        </p:nvSpPr>
        <p:spPr>
          <a:xfrm>
            <a:off x="777240" y="2130552"/>
            <a:ext cx="3017520" cy="960120"/>
          </a:xfrm>
          <a:prstGeom prst="rect"/>
          <a:noFill/>
        </p:spPr>
        <p:txBody>
          <a:bodyPr anchor="t" wrap="square"/>
          <a:p>
            <a:pPr algn="l">
              <a:defRPr b="0" sz="1100">
                <a:solidFill>
                  <a:srgbClr val="6B7B8D"/>
                </a:solidFill>
                <a:latin typeface="Calibri"/>
              </a:defRPr>
            </a:pPr>
            <a:r>
              <a:t>Hand-crafted rules, SNOMED-CT,</a:t>
            </a:r>
            <a:br/>
            <a:r>
              <a:t>ICD-10 ontologies. Precise but</a:t>
            </a:r>
            <a:br/>
            <a:r>
              <a:t>brittle — every new phrasing</a:t>
            </a:r>
            <a:br/>
            <a:r>
              <a:t>required manual rule updates.</a:t>
            </a:r>
          </a:p>
        </p:txBody>
      </p:sp>
      <p:sp>
        <p:nvSpPr>
          <p:cNvPr id="1048625" name="Right Arrow 8"/>
          <p:cNvSpPr/>
          <p:nvPr/>
        </p:nvSpPr>
        <p:spPr>
          <a:xfrm>
            <a:off x="3977640" y="2286000"/>
            <a:ext cx="274320" cy="164592"/>
          </a:xfrm>
          <a:prstGeom prst="rightArrow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6" name="Rounded Rectangle 9"/>
          <p:cNvSpPr/>
          <p:nvPr/>
        </p:nvSpPr>
        <p:spPr>
          <a:xfrm>
            <a:off x="4297680" y="1691640"/>
            <a:ext cx="3291840" cy="1508760"/>
          </a:xfrm>
          <a:prstGeom prst="roundRect"/>
          <a:solidFill>
            <a:srgbClr val="E3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7" name="TextBox 10"/>
          <p:cNvSpPr txBox="1"/>
          <p:nvPr/>
        </p:nvSpPr>
        <p:spPr>
          <a:xfrm>
            <a:off x="4434840" y="1801368"/>
            <a:ext cx="3017520" cy="274320"/>
          </a:xfrm>
          <a:prstGeom prst="rect"/>
          <a:noFill/>
        </p:spPr>
        <p:txBody>
          <a:bodyPr anchor="t" wrap="square"/>
          <a:p>
            <a:pPr algn="l">
              <a:defRPr b="1" sz="1300">
                <a:solidFill>
                  <a:srgbClr val="0F2B46"/>
                </a:solidFill>
                <a:latin typeface="Calibri"/>
              </a:defRPr>
            </a:pPr>
            <a:r>
              <a:t>🧠  Phase 2: Statistical &amp; Transformers</a:t>
            </a:r>
          </a:p>
        </p:txBody>
      </p:sp>
      <p:sp>
        <p:nvSpPr>
          <p:cNvPr id="1048628" name="TextBox 11"/>
          <p:cNvSpPr txBox="1"/>
          <p:nvPr/>
        </p:nvSpPr>
        <p:spPr>
          <a:xfrm>
            <a:off x="4434840" y="2130552"/>
            <a:ext cx="3017520" cy="960120"/>
          </a:xfrm>
          <a:prstGeom prst="rect"/>
          <a:noFill/>
        </p:spPr>
        <p:txBody>
          <a:bodyPr anchor="t" wrap="square"/>
          <a:p>
            <a:pPr algn="l">
              <a:defRPr b="0" sz="1100">
                <a:solidFill>
                  <a:srgbClr val="6B7B8D"/>
                </a:solidFill>
                <a:latin typeface="Calibri"/>
              </a:defRPr>
            </a:pPr>
            <a:r>
              <a:t>BM25 for lexical search, then</a:t>
            </a:r>
            <a:br/>
            <a:r>
              <a:t>transformer models (BERT,</a:t>
            </a:r>
            <a:br/>
            <a:r>
              <a:t>GatorTron) learning contextual</a:t>
            </a:r>
            <a:br/>
            <a:r>
              <a:t>meaning from clinical corpora.</a:t>
            </a:r>
          </a:p>
        </p:txBody>
      </p:sp>
      <p:sp>
        <p:nvSpPr>
          <p:cNvPr id="1048629" name="Right Arrow 12"/>
          <p:cNvSpPr/>
          <p:nvPr/>
        </p:nvSpPr>
        <p:spPr>
          <a:xfrm>
            <a:off x="7635240" y="2286000"/>
            <a:ext cx="274320" cy="164592"/>
          </a:xfrm>
          <a:prstGeom prst="rightArrow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0" name="Rounded Rectangle 13"/>
          <p:cNvSpPr/>
          <p:nvPr/>
        </p:nvSpPr>
        <p:spPr>
          <a:xfrm>
            <a:off x="7955280" y="1691640"/>
            <a:ext cx="3291840" cy="1508760"/>
          </a:xfrm>
          <a:prstGeom prst="roundRect"/>
          <a:solidFill>
            <a:srgbClr val="DA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1" name="TextBox 14"/>
          <p:cNvSpPr txBox="1"/>
          <p:nvPr/>
        </p:nvSpPr>
        <p:spPr>
          <a:xfrm>
            <a:off x="8092440" y="1801368"/>
            <a:ext cx="3017520" cy="274320"/>
          </a:xfrm>
          <a:prstGeom prst="rect"/>
          <a:noFill/>
        </p:spPr>
        <p:txBody>
          <a:bodyPr anchor="t" wrap="square"/>
          <a:p>
            <a:pPr algn="l">
              <a:defRPr b="1" sz="1300">
                <a:solidFill>
                  <a:srgbClr val="0F2B46"/>
                </a:solidFill>
                <a:latin typeface="Calibri"/>
              </a:defRPr>
            </a:pPr>
            <a:r>
              <a:t>🚀  Phase 3: LLMs + RAG</a:t>
            </a:r>
          </a:p>
        </p:txBody>
      </p:sp>
      <p:sp>
        <p:nvSpPr>
          <p:cNvPr id="1048632" name="TextBox 15"/>
          <p:cNvSpPr txBox="1"/>
          <p:nvPr/>
        </p:nvSpPr>
        <p:spPr>
          <a:xfrm>
            <a:off x="8092440" y="2130552"/>
            <a:ext cx="3017520" cy="960120"/>
          </a:xfrm>
          <a:prstGeom prst="rect"/>
          <a:noFill/>
        </p:spPr>
        <p:txBody>
          <a:bodyPr anchor="t" wrap="square"/>
          <a:p>
            <a:pPr algn="l">
              <a:defRPr b="0" sz="1100">
                <a:solidFill>
                  <a:srgbClr val="6B7B8D"/>
                </a:solidFill>
                <a:latin typeface="Calibri"/>
              </a:defRPr>
            </a:pPr>
            <a:r>
              <a:t>GPT-4, Med-PaLM 2 show near-</a:t>
            </a:r>
            <a:br/>
            <a:r>
              <a:t>physician performance. RAG grounds</a:t>
            </a:r>
            <a:br/>
            <a:r>
              <a:t>LLM outputs in retrieved evidence,</a:t>
            </a:r>
            <a:br/>
            <a:r>
              <a:t>solving the hallucination problem.</a:t>
            </a:r>
          </a:p>
        </p:txBody>
      </p:sp>
      <p:sp>
        <p:nvSpPr>
          <p:cNvPr id="1048633" name="Rectangle 16"/>
          <p:cNvSpPr/>
          <p:nvPr/>
        </p:nvSpPr>
        <p:spPr>
          <a:xfrm>
            <a:off x="640080" y="3520440"/>
            <a:ext cx="10881360" cy="502920"/>
          </a:xfrm>
          <a:prstGeom prst="rect"/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4" name="TextBox 17"/>
          <p:cNvSpPr txBox="1"/>
          <p:nvPr/>
        </p:nvSpPr>
        <p:spPr>
          <a:xfrm>
            <a:off x="914400" y="3520440"/>
            <a:ext cx="10424160" cy="502920"/>
          </a:xfrm>
          <a:prstGeom prst="rect"/>
          <a:noFill/>
        </p:spPr>
        <p:txBody>
          <a:bodyPr anchor="ctr" wrap="square"/>
          <a:p>
            <a:pPr algn="l">
              <a:defRPr b="0" sz="1300">
                <a:solidFill>
                  <a:srgbClr val="FFFFFF"/>
                </a:solidFill>
                <a:latin typeface="Calibri"/>
              </a:defRPr>
            </a:pPr>
            <a:r>
              <a:t>⚡  Key Insight: Hybrid RAG (BM25 + dense retrieval) consistently outperforms either method alone for clinical knowledge tasks.</a:t>
            </a:r>
          </a:p>
        </p:txBody>
      </p:sp>
      <p:sp>
        <p:nvSpPr>
          <p:cNvPr id="1048635" name="Rounded Rectangle 18"/>
          <p:cNvSpPr/>
          <p:nvPr/>
        </p:nvSpPr>
        <p:spPr>
          <a:xfrm>
            <a:off x="640080" y="4297680"/>
            <a:ext cx="3474720" cy="123444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6" name="Rectangle 19"/>
          <p:cNvSpPr/>
          <p:nvPr/>
        </p:nvSpPr>
        <p:spPr>
          <a:xfrm>
            <a:off x="640080" y="4297680"/>
            <a:ext cx="54864" cy="1234440"/>
          </a:xfrm>
          <a:prstGeom prst="rect"/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7" name="TextBox 20"/>
          <p:cNvSpPr txBox="1"/>
          <p:nvPr/>
        </p:nvSpPr>
        <p:spPr>
          <a:xfrm>
            <a:off x="822960" y="4389120"/>
            <a:ext cx="320040" cy="274320"/>
          </a:xfrm>
          <a:prstGeom prst="rect"/>
          <a:noFill/>
        </p:spPr>
        <p:txBody>
          <a:bodyPr anchor="t" wrap="square"/>
          <a:p>
            <a:pPr algn="l">
              <a:defRPr b="0" sz="1800">
                <a:solidFill>
                  <a:srgbClr val="E85D4A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048638" name="TextBox 21"/>
          <p:cNvSpPr txBox="1"/>
          <p:nvPr/>
        </p:nvSpPr>
        <p:spPr>
          <a:xfrm>
            <a:off x="1143000" y="4389120"/>
            <a:ext cx="2834640" cy="274320"/>
          </a:xfrm>
          <a:prstGeom prst="rect"/>
          <a:noFill/>
        </p:spPr>
        <p:txBody>
          <a:bodyPr anchor="t" wrap="square"/>
          <a:p>
            <a:pPr algn="l">
              <a:defRPr b="1" sz="1300">
                <a:solidFill>
                  <a:srgbClr val="0F2B46"/>
                </a:solidFill>
                <a:latin typeface="Calibri"/>
              </a:defRPr>
            </a:pPr>
            <a:r>
              <a:t>Standalone LLMs</a:t>
            </a:r>
          </a:p>
        </p:txBody>
      </p:sp>
      <p:sp>
        <p:nvSpPr>
          <p:cNvPr id="1048639" name="TextBox 22"/>
          <p:cNvSpPr txBox="1"/>
          <p:nvPr/>
        </p:nvSpPr>
        <p:spPr>
          <a:xfrm>
            <a:off x="1143000" y="4709160"/>
            <a:ext cx="2834640" cy="731520"/>
          </a:xfrm>
          <a:prstGeom prst="rect"/>
          <a:noFill/>
        </p:spPr>
        <p:txBody>
          <a:bodyPr anchor="t" wrap="square"/>
          <a:p>
            <a:pPr algn="l">
              <a:defRPr b="0" sz="1100">
                <a:solidFill>
                  <a:srgbClr val="6B7B8D"/>
                </a:solidFill>
                <a:latin typeface="Calibri"/>
              </a:defRPr>
            </a:pPr>
            <a:r>
              <a:t>Generate from parametric</a:t>
            </a:r>
            <a:br/>
            <a:r>
              <a:t>memory → hallucination risk</a:t>
            </a:r>
          </a:p>
        </p:txBody>
      </p:sp>
      <p:sp>
        <p:nvSpPr>
          <p:cNvPr id="1048640" name="Rounded Rectangle 23"/>
          <p:cNvSpPr/>
          <p:nvPr/>
        </p:nvSpPr>
        <p:spPr>
          <a:xfrm>
            <a:off x="4343400" y="4297680"/>
            <a:ext cx="3474720" cy="123444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1" name="Rectangle 24"/>
          <p:cNvSpPr/>
          <p:nvPr/>
        </p:nvSpPr>
        <p:spPr>
          <a:xfrm>
            <a:off x="4343400" y="4297680"/>
            <a:ext cx="54864" cy="1234440"/>
          </a:xfrm>
          <a:prstGeom prst="rect"/>
          <a:solidFill>
            <a:srgbClr val="F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2" name="TextBox 25"/>
          <p:cNvSpPr txBox="1"/>
          <p:nvPr/>
        </p:nvSpPr>
        <p:spPr>
          <a:xfrm>
            <a:off x="4526280" y="4389120"/>
            <a:ext cx="320040" cy="274320"/>
          </a:xfrm>
          <a:prstGeom prst="rect"/>
          <a:noFill/>
        </p:spPr>
        <p:txBody>
          <a:bodyPr anchor="t" wrap="square"/>
          <a:p>
            <a:pPr algn="l">
              <a:defRPr b="0" sz="1800">
                <a:solidFill>
                  <a:srgbClr val="F0A030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1048643" name="TextBox 26"/>
          <p:cNvSpPr txBox="1"/>
          <p:nvPr/>
        </p:nvSpPr>
        <p:spPr>
          <a:xfrm>
            <a:off x="4846320" y="4389120"/>
            <a:ext cx="2834640" cy="274320"/>
          </a:xfrm>
          <a:prstGeom prst="rect"/>
          <a:noFill/>
        </p:spPr>
        <p:txBody>
          <a:bodyPr anchor="t" wrap="square"/>
          <a:p>
            <a:pPr algn="l">
              <a:defRPr b="1" sz="1300">
                <a:solidFill>
                  <a:srgbClr val="0F2B46"/>
                </a:solidFill>
                <a:latin typeface="Calibri"/>
              </a:defRPr>
            </a:pPr>
            <a:r>
              <a:t>Retrieval Only</a:t>
            </a:r>
          </a:p>
        </p:txBody>
      </p:sp>
      <p:sp>
        <p:nvSpPr>
          <p:cNvPr id="1048644" name="TextBox 27"/>
          <p:cNvSpPr txBox="1"/>
          <p:nvPr/>
        </p:nvSpPr>
        <p:spPr>
          <a:xfrm>
            <a:off x="4846320" y="4709160"/>
            <a:ext cx="2834640" cy="731520"/>
          </a:xfrm>
          <a:prstGeom prst="rect"/>
          <a:noFill/>
        </p:spPr>
        <p:txBody>
          <a:bodyPr anchor="t" wrap="square"/>
          <a:p>
            <a:pPr algn="l">
              <a:defRPr b="0" sz="1100">
                <a:solidFill>
                  <a:srgbClr val="6B7B8D"/>
                </a:solidFill>
                <a:latin typeface="Calibri"/>
              </a:defRPr>
            </a:pPr>
            <a:r>
              <a:t>Returns passages but no</a:t>
            </a:r>
            <a:br/>
            <a:r>
              <a:t>synthesized answer</a:t>
            </a:r>
          </a:p>
        </p:txBody>
      </p:sp>
      <p:sp>
        <p:nvSpPr>
          <p:cNvPr id="1048645" name="Rounded Rectangle 28"/>
          <p:cNvSpPr/>
          <p:nvPr/>
        </p:nvSpPr>
        <p:spPr>
          <a:xfrm>
            <a:off x="8046720" y="4297680"/>
            <a:ext cx="3474720" cy="123444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6" name="Rectangle 29"/>
          <p:cNvSpPr/>
          <p:nvPr/>
        </p:nvSpPr>
        <p:spPr>
          <a:xfrm>
            <a:off x="8046720" y="4297680"/>
            <a:ext cx="54864" cy="1234440"/>
          </a:xfrm>
          <a:prstGeom prst="rect"/>
          <a:solidFill>
            <a:srgbClr val="00A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7" name="TextBox 30"/>
          <p:cNvSpPr txBox="1"/>
          <p:nvPr/>
        </p:nvSpPr>
        <p:spPr>
          <a:xfrm>
            <a:off x="8229600" y="4389120"/>
            <a:ext cx="320040" cy="274320"/>
          </a:xfrm>
          <a:prstGeom prst="rect"/>
          <a:noFill/>
        </p:spPr>
        <p:txBody>
          <a:bodyPr anchor="t" wrap="square"/>
          <a:p>
            <a:pPr algn="l">
              <a:defRPr b="0" sz="1800">
                <a:solidFill>
                  <a:srgbClr val="00A37D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048648" name="TextBox 31"/>
          <p:cNvSpPr txBox="1"/>
          <p:nvPr/>
        </p:nvSpPr>
        <p:spPr>
          <a:xfrm>
            <a:off x="8549640" y="4389120"/>
            <a:ext cx="2834640" cy="274320"/>
          </a:xfrm>
          <a:prstGeom prst="rect"/>
          <a:noFill/>
        </p:spPr>
        <p:txBody>
          <a:bodyPr anchor="t" wrap="square"/>
          <a:p>
            <a:pPr algn="l">
              <a:defRPr b="1" sz="1300">
                <a:solidFill>
                  <a:srgbClr val="0F2B46"/>
                </a:solidFill>
                <a:latin typeface="Calibri"/>
              </a:defRPr>
            </a:pPr>
            <a:r>
              <a:t>Hybrid RAG</a:t>
            </a:r>
          </a:p>
        </p:txBody>
      </p:sp>
      <p:sp>
        <p:nvSpPr>
          <p:cNvPr id="1048649" name="TextBox 32"/>
          <p:cNvSpPr txBox="1"/>
          <p:nvPr/>
        </p:nvSpPr>
        <p:spPr>
          <a:xfrm>
            <a:off x="8549640" y="4709160"/>
            <a:ext cx="2834640" cy="731520"/>
          </a:xfrm>
          <a:prstGeom prst="rect"/>
          <a:noFill/>
        </p:spPr>
        <p:txBody>
          <a:bodyPr anchor="t" wrap="square"/>
          <a:p>
            <a:pPr algn="l">
              <a:defRPr b="0" sz="1100">
                <a:solidFill>
                  <a:srgbClr val="6B7B8D"/>
                </a:solidFill>
                <a:latin typeface="Calibri"/>
              </a:defRPr>
            </a:pPr>
            <a:r>
              <a:t>Retrieves evidence + generates</a:t>
            </a:r>
            <a:br/>
            <a:r>
              <a:t>grounded, cited answers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/>
      </p:grpSpPr>
      <p:sp>
        <p:nvSpPr>
          <p:cNvPr id="1048653" name="Rectangle 1"/>
          <p:cNvSpPr/>
          <p:nvPr/>
        </p:nvSpPr>
        <p:spPr>
          <a:xfrm>
            <a:off x="0" y="0"/>
            <a:ext cx="12191695" cy="54864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4" name="TextBox 2"/>
          <p:cNvSpPr txBox="1"/>
          <p:nvPr/>
        </p:nvSpPr>
        <p:spPr>
          <a:xfrm>
            <a:off x="640080" y="320040"/>
            <a:ext cx="9144000" cy="548640"/>
          </a:xfrm>
          <a:prstGeom prst="rect"/>
          <a:noFill/>
        </p:spPr>
        <p:txBody>
          <a:bodyPr anchor="t" wrap="square"/>
          <a:p>
            <a:pPr algn="l">
              <a:defRPr b="1" sz="3000">
                <a:solidFill>
                  <a:srgbClr val="0F2B46"/>
                </a:solidFill>
                <a:latin typeface="Aptos"/>
              </a:defRPr>
            </a:pPr>
            <a:r>
              <a:t>ClinicalDoc AI</a:t>
            </a:r>
          </a:p>
        </p:txBody>
      </p:sp>
      <p:sp>
        <p:nvSpPr>
          <p:cNvPr id="1048655" name="TextBox 3"/>
          <p:cNvSpPr txBox="1"/>
          <p:nvPr/>
        </p:nvSpPr>
        <p:spPr>
          <a:xfrm>
            <a:off x="640080" y="868680"/>
            <a:ext cx="9144000" cy="320040"/>
          </a:xfrm>
          <a:prstGeom prst="rect"/>
          <a:noFill/>
        </p:spPr>
        <p:txBody>
          <a:bodyPr anchor="t" wrap="square"/>
          <a:p>
            <a:pPr algn="l">
              <a:defRPr b="0" sz="1400">
                <a:solidFill>
                  <a:srgbClr val="6B7B8D"/>
                </a:solidFill>
                <a:latin typeface="Calibri"/>
              </a:defRPr>
            </a:pPr>
            <a:r>
              <a:t>Hybrid RAG-powered clinical document intelligence platform</a:t>
            </a:r>
          </a:p>
        </p:txBody>
      </p:sp>
      <p:sp>
        <p:nvSpPr>
          <p:cNvPr id="1048656" name="Rectangle 4"/>
          <p:cNvSpPr/>
          <p:nvPr/>
        </p:nvSpPr>
        <p:spPr>
          <a:xfrm>
            <a:off x="640080" y="1188720"/>
            <a:ext cx="1645920" cy="32004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7" name="TextBox 5"/>
          <p:cNvSpPr txBox="1"/>
          <p:nvPr/>
        </p:nvSpPr>
        <p:spPr>
          <a:xfrm>
            <a:off x="640080" y="1463040"/>
            <a:ext cx="5029200" cy="822960"/>
          </a:xfrm>
          <a:prstGeom prst="rect"/>
          <a:noFill/>
        </p:spPr>
        <p:txBody>
          <a:bodyPr anchor="t" wrap="square"/>
          <a:p>
            <a:pPr algn="l">
              <a:defRPr b="0" sz="1400">
                <a:solidFill>
                  <a:srgbClr val="1A1A2E"/>
                </a:solidFill>
                <a:latin typeface="Calibri"/>
              </a:defRPr>
            </a:pPr>
            <a:r>
              <a:t>A working proof-of-concept that enables accurate, source-grounded question answering and summarization over medical PDF documents using hybrid Retrieval-Augmented Generation.</a:t>
            </a:r>
          </a:p>
        </p:txBody>
      </p:sp>
      <p:sp>
        <p:nvSpPr>
          <p:cNvPr id="1048658" name="Rounded Rectangle 6"/>
          <p:cNvSpPr/>
          <p:nvPr/>
        </p:nvSpPr>
        <p:spPr>
          <a:xfrm>
            <a:off x="640080" y="2514600"/>
            <a:ext cx="3291840" cy="132588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9" name="Rectangle 7"/>
          <p:cNvSpPr/>
          <p:nvPr/>
        </p:nvSpPr>
        <p:spPr>
          <a:xfrm>
            <a:off x="640080" y="2514600"/>
            <a:ext cx="54864" cy="1325880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0" name="TextBox 8"/>
          <p:cNvSpPr txBox="1"/>
          <p:nvPr/>
        </p:nvSpPr>
        <p:spPr>
          <a:xfrm>
            <a:off x="822960" y="2651760"/>
            <a:ext cx="365760" cy="365760"/>
          </a:xfrm>
          <a:prstGeom prst="rect"/>
          <a:noFill/>
        </p:spPr>
        <p:txBody>
          <a:bodyPr anchor="t" wrap="square"/>
          <a:p>
            <a:pPr algn="l">
              <a:defRPr b="0" sz="2200">
                <a:solidFill>
                  <a:srgbClr val="2B8EC4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1048661" name="TextBox 9"/>
          <p:cNvSpPr txBox="1"/>
          <p:nvPr/>
        </p:nvSpPr>
        <p:spPr>
          <a:xfrm>
            <a:off x="1234440" y="2651760"/>
            <a:ext cx="2560320" cy="274320"/>
          </a:xfrm>
          <a:prstGeom prst="rect"/>
          <a:noFill/>
        </p:spPr>
        <p:txBody>
          <a:bodyPr anchor="t" wrap="square"/>
          <a:p>
            <a:pPr algn="l">
              <a:defRPr b="1" sz="1400">
                <a:solidFill>
                  <a:srgbClr val="0F2B46"/>
                </a:solidFill>
                <a:latin typeface="Calibri"/>
              </a:defRPr>
            </a:pPr>
            <a:r>
              <a:t>PDF Processing</a:t>
            </a:r>
          </a:p>
        </p:txBody>
      </p:sp>
      <p:sp>
        <p:nvSpPr>
          <p:cNvPr id="1048662" name="TextBox 10"/>
          <p:cNvSpPr txBox="1"/>
          <p:nvPr/>
        </p:nvSpPr>
        <p:spPr>
          <a:xfrm>
            <a:off x="1234440" y="2971800"/>
            <a:ext cx="2560320" cy="777240"/>
          </a:xfrm>
          <a:prstGeom prst="rect"/>
          <a:noFill/>
        </p:spPr>
        <p:txBody>
          <a:bodyPr anchor="t" wrap="square"/>
          <a:p>
            <a:pPr algn="l">
              <a:defRPr b="0" sz="1100">
                <a:solidFill>
                  <a:srgbClr val="6B7B8D"/>
                </a:solidFill>
                <a:latin typeface="Calibri"/>
              </a:defRPr>
            </a:pPr>
            <a:r>
              <a:t>Upload and parse medical</a:t>
            </a:r>
            <a:br/>
            <a:r>
              <a:t>PDFs with PyMuPDF</a:t>
            </a:r>
          </a:p>
        </p:txBody>
      </p:sp>
      <p:sp>
        <p:nvSpPr>
          <p:cNvPr id="1048663" name="Rounded Rectangle 11"/>
          <p:cNvSpPr/>
          <p:nvPr/>
        </p:nvSpPr>
        <p:spPr>
          <a:xfrm>
            <a:off x="4251960" y="2514600"/>
            <a:ext cx="3291840" cy="132588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4" name="Rectangle 12"/>
          <p:cNvSpPr/>
          <p:nvPr/>
        </p:nvSpPr>
        <p:spPr>
          <a:xfrm>
            <a:off x="4251960" y="2514600"/>
            <a:ext cx="54864" cy="1325880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5" name="TextBox 13"/>
          <p:cNvSpPr txBox="1"/>
          <p:nvPr/>
        </p:nvSpPr>
        <p:spPr>
          <a:xfrm>
            <a:off x="4434840" y="2651760"/>
            <a:ext cx="365760" cy="365760"/>
          </a:xfrm>
          <a:prstGeom prst="rect"/>
          <a:noFill/>
        </p:spPr>
        <p:txBody>
          <a:bodyPr anchor="t" wrap="square"/>
          <a:p>
            <a:pPr algn="l">
              <a:defRPr b="0" sz="2200">
                <a:solidFill>
                  <a:srgbClr val="2B8EC4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048666" name="TextBox 14"/>
          <p:cNvSpPr txBox="1"/>
          <p:nvPr/>
        </p:nvSpPr>
        <p:spPr>
          <a:xfrm>
            <a:off x="4846320" y="2651760"/>
            <a:ext cx="2560320" cy="274320"/>
          </a:xfrm>
          <a:prstGeom prst="rect"/>
          <a:noFill/>
        </p:spPr>
        <p:txBody>
          <a:bodyPr anchor="t" wrap="square"/>
          <a:p>
            <a:pPr algn="l">
              <a:defRPr b="1" sz="1400">
                <a:solidFill>
                  <a:srgbClr val="0F2B46"/>
                </a:solidFill>
                <a:latin typeface="Calibri"/>
              </a:defRPr>
            </a:pPr>
            <a:r>
              <a:t>Hybrid Retrieval</a:t>
            </a:r>
          </a:p>
        </p:txBody>
      </p:sp>
      <p:sp>
        <p:nvSpPr>
          <p:cNvPr id="1048667" name="TextBox 15"/>
          <p:cNvSpPr txBox="1"/>
          <p:nvPr/>
        </p:nvSpPr>
        <p:spPr>
          <a:xfrm>
            <a:off x="4846320" y="2971800"/>
            <a:ext cx="2560320" cy="777240"/>
          </a:xfrm>
          <a:prstGeom prst="rect"/>
          <a:noFill/>
        </p:spPr>
        <p:txBody>
          <a:bodyPr anchor="t" wrap="square"/>
          <a:p>
            <a:pPr algn="l">
              <a:defRPr b="0" sz="1100">
                <a:solidFill>
                  <a:srgbClr val="6B7B8D"/>
                </a:solidFill>
                <a:latin typeface="Calibri"/>
              </a:defRPr>
            </a:pPr>
            <a:r>
              <a:t>BM25 sparse + FAISS</a:t>
            </a:r>
            <a:br/>
            <a:r>
              <a:t>dense search combined</a:t>
            </a:r>
          </a:p>
        </p:txBody>
      </p:sp>
      <p:sp>
        <p:nvSpPr>
          <p:cNvPr id="1048668" name="Rounded Rectangle 16"/>
          <p:cNvSpPr/>
          <p:nvPr/>
        </p:nvSpPr>
        <p:spPr>
          <a:xfrm>
            <a:off x="7863840" y="2514600"/>
            <a:ext cx="3291840" cy="132588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9" name="Rectangle 17"/>
          <p:cNvSpPr/>
          <p:nvPr/>
        </p:nvSpPr>
        <p:spPr>
          <a:xfrm>
            <a:off x="7863840" y="2514600"/>
            <a:ext cx="54864" cy="1325880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0" name="TextBox 18"/>
          <p:cNvSpPr txBox="1"/>
          <p:nvPr/>
        </p:nvSpPr>
        <p:spPr>
          <a:xfrm>
            <a:off x="8046720" y="2651760"/>
            <a:ext cx="365760" cy="365760"/>
          </a:xfrm>
          <a:prstGeom prst="rect"/>
          <a:noFill/>
        </p:spPr>
        <p:txBody>
          <a:bodyPr anchor="t" wrap="square"/>
          <a:p>
            <a:pPr algn="l">
              <a:defRPr b="0" sz="2200">
                <a:solidFill>
                  <a:srgbClr val="2B8EC4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1048671" name="TextBox 19"/>
          <p:cNvSpPr txBox="1"/>
          <p:nvPr/>
        </p:nvSpPr>
        <p:spPr>
          <a:xfrm>
            <a:off x="8458200" y="2651760"/>
            <a:ext cx="2560320" cy="274320"/>
          </a:xfrm>
          <a:prstGeom prst="rect"/>
          <a:noFill/>
        </p:spPr>
        <p:txBody>
          <a:bodyPr anchor="t" wrap="square"/>
          <a:p>
            <a:pPr algn="l">
              <a:defRPr b="1" sz="1400">
                <a:solidFill>
                  <a:srgbClr val="0F2B46"/>
                </a:solidFill>
                <a:latin typeface="Calibri"/>
              </a:defRPr>
            </a:pPr>
            <a:r>
              <a:t>RRF Fusion</a:t>
            </a:r>
          </a:p>
        </p:txBody>
      </p:sp>
      <p:sp>
        <p:nvSpPr>
          <p:cNvPr id="1048672" name="TextBox 20"/>
          <p:cNvSpPr txBox="1"/>
          <p:nvPr/>
        </p:nvSpPr>
        <p:spPr>
          <a:xfrm>
            <a:off x="8458200" y="2971800"/>
            <a:ext cx="2560320" cy="777240"/>
          </a:xfrm>
          <a:prstGeom prst="rect"/>
          <a:noFill/>
        </p:spPr>
        <p:txBody>
          <a:bodyPr anchor="t" wrap="square"/>
          <a:p>
            <a:pPr algn="l">
              <a:defRPr b="0" sz="1100">
                <a:solidFill>
                  <a:srgbClr val="6B7B8D"/>
                </a:solidFill>
                <a:latin typeface="Calibri"/>
              </a:defRPr>
            </a:pPr>
            <a:r>
              <a:t>Reciprocal Rank Fusion</a:t>
            </a:r>
            <a:br/>
            <a:r>
              <a:t>merges retrieval signals</a:t>
            </a:r>
          </a:p>
        </p:txBody>
      </p:sp>
      <p:sp>
        <p:nvSpPr>
          <p:cNvPr id="1048673" name="Rounded Rectangle 21"/>
          <p:cNvSpPr/>
          <p:nvPr/>
        </p:nvSpPr>
        <p:spPr>
          <a:xfrm>
            <a:off x="640080" y="4069080"/>
            <a:ext cx="3291840" cy="132588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4" name="Rectangle 22"/>
          <p:cNvSpPr/>
          <p:nvPr/>
        </p:nvSpPr>
        <p:spPr>
          <a:xfrm>
            <a:off x="640080" y="4069080"/>
            <a:ext cx="54864" cy="1325880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5" name="TextBox 23"/>
          <p:cNvSpPr txBox="1"/>
          <p:nvPr/>
        </p:nvSpPr>
        <p:spPr>
          <a:xfrm>
            <a:off x="822960" y="4206240"/>
            <a:ext cx="365760" cy="365760"/>
          </a:xfrm>
          <a:prstGeom prst="rect"/>
          <a:noFill/>
        </p:spPr>
        <p:txBody>
          <a:bodyPr anchor="t" wrap="square"/>
          <a:p>
            <a:pPr algn="l">
              <a:defRPr b="0" sz="2200">
                <a:solidFill>
                  <a:srgbClr val="2B8EC4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1048676" name="TextBox 24"/>
          <p:cNvSpPr txBox="1"/>
          <p:nvPr/>
        </p:nvSpPr>
        <p:spPr>
          <a:xfrm>
            <a:off x="1234440" y="4206240"/>
            <a:ext cx="2560320" cy="274320"/>
          </a:xfrm>
          <a:prstGeom prst="rect"/>
          <a:noFill/>
        </p:spPr>
        <p:txBody>
          <a:bodyPr anchor="t" wrap="square"/>
          <a:p>
            <a:pPr algn="l">
              <a:defRPr b="1" sz="1400">
                <a:solidFill>
                  <a:srgbClr val="0F2B46"/>
                </a:solidFill>
                <a:latin typeface="Calibri"/>
              </a:defRPr>
            </a:pPr>
            <a:r>
              <a:t>Clinical Q&amp;A</a:t>
            </a:r>
          </a:p>
        </p:txBody>
      </p:sp>
      <p:sp>
        <p:nvSpPr>
          <p:cNvPr id="1048677" name="TextBox 25"/>
          <p:cNvSpPr txBox="1"/>
          <p:nvPr/>
        </p:nvSpPr>
        <p:spPr>
          <a:xfrm>
            <a:off x="1234440" y="4526280"/>
            <a:ext cx="2560320" cy="777240"/>
          </a:xfrm>
          <a:prstGeom prst="rect"/>
          <a:noFill/>
        </p:spPr>
        <p:txBody>
          <a:bodyPr anchor="t" wrap="square"/>
          <a:p>
            <a:pPr algn="l">
              <a:defRPr b="0" sz="1100">
                <a:solidFill>
                  <a:srgbClr val="6B7B8D"/>
                </a:solidFill>
                <a:latin typeface="Calibri"/>
              </a:defRPr>
            </a:pPr>
            <a:r>
              <a:t>Ask questions, get answers</a:t>
            </a:r>
            <a:br/>
            <a:r>
              <a:t>grounded in document</a:t>
            </a:r>
          </a:p>
        </p:txBody>
      </p:sp>
      <p:sp>
        <p:nvSpPr>
          <p:cNvPr id="1048678" name="Rounded Rectangle 26"/>
          <p:cNvSpPr/>
          <p:nvPr/>
        </p:nvSpPr>
        <p:spPr>
          <a:xfrm>
            <a:off x="4251960" y="4069080"/>
            <a:ext cx="3291840" cy="132588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9" name="Rectangle 27"/>
          <p:cNvSpPr/>
          <p:nvPr/>
        </p:nvSpPr>
        <p:spPr>
          <a:xfrm>
            <a:off x="4251960" y="4069080"/>
            <a:ext cx="54864" cy="1325880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0" name="TextBox 28"/>
          <p:cNvSpPr txBox="1"/>
          <p:nvPr/>
        </p:nvSpPr>
        <p:spPr>
          <a:xfrm>
            <a:off x="4434840" y="4206240"/>
            <a:ext cx="365760" cy="365760"/>
          </a:xfrm>
          <a:prstGeom prst="rect"/>
          <a:noFill/>
        </p:spPr>
        <p:txBody>
          <a:bodyPr anchor="t" wrap="square"/>
          <a:p>
            <a:pPr algn="l">
              <a:defRPr b="0" sz="2200">
                <a:solidFill>
                  <a:srgbClr val="2B8EC4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048681" name="TextBox 29"/>
          <p:cNvSpPr txBox="1"/>
          <p:nvPr/>
        </p:nvSpPr>
        <p:spPr>
          <a:xfrm>
            <a:off x="4846320" y="4206240"/>
            <a:ext cx="2560320" cy="274320"/>
          </a:xfrm>
          <a:prstGeom prst="rect"/>
          <a:noFill/>
        </p:spPr>
        <p:txBody>
          <a:bodyPr anchor="t" wrap="square"/>
          <a:p>
            <a:pPr algn="l">
              <a:defRPr b="1" sz="1400">
                <a:solidFill>
                  <a:srgbClr val="0F2B46"/>
                </a:solidFill>
                <a:latin typeface="Calibri"/>
              </a:defRPr>
            </a:pPr>
            <a:r>
              <a:t>Summarization</a:t>
            </a:r>
          </a:p>
        </p:txBody>
      </p:sp>
      <p:sp>
        <p:nvSpPr>
          <p:cNvPr id="1048682" name="TextBox 30"/>
          <p:cNvSpPr txBox="1"/>
          <p:nvPr/>
        </p:nvSpPr>
        <p:spPr>
          <a:xfrm>
            <a:off x="4846320" y="4526280"/>
            <a:ext cx="2560320" cy="777240"/>
          </a:xfrm>
          <a:prstGeom prst="rect"/>
          <a:noFill/>
        </p:spPr>
        <p:txBody>
          <a:bodyPr anchor="t" wrap="square"/>
          <a:p>
            <a:pPr algn="l">
              <a:defRPr b="0" sz="1100">
                <a:solidFill>
                  <a:srgbClr val="6B7B8D"/>
                </a:solidFill>
                <a:latin typeface="Calibri"/>
              </a:defRPr>
            </a:pPr>
            <a:r>
              <a:t>Generate structured</a:t>
            </a:r>
            <a:br/>
            <a:r>
              <a:t>medical summaries</a:t>
            </a:r>
          </a:p>
        </p:txBody>
      </p:sp>
      <p:sp>
        <p:nvSpPr>
          <p:cNvPr id="1048683" name="Rounded Rectangle 31"/>
          <p:cNvSpPr/>
          <p:nvPr/>
        </p:nvSpPr>
        <p:spPr>
          <a:xfrm>
            <a:off x="7863840" y="4069080"/>
            <a:ext cx="3291840" cy="132588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4" name="Rectangle 32"/>
          <p:cNvSpPr/>
          <p:nvPr/>
        </p:nvSpPr>
        <p:spPr>
          <a:xfrm>
            <a:off x="7863840" y="4069080"/>
            <a:ext cx="54864" cy="1325880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5" name="TextBox 33"/>
          <p:cNvSpPr txBox="1"/>
          <p:nvPr/>
        </p:nvSpPr>
        <p:spPr>
          <a:xfrm>
            <a:off x="8046720" y="4206240"/>
            <a:ext cx="365760" cy="365760"/>
          </a:xfrm>
          <a:prstGeom prst="rect"/>
          <a:noFill/>
        </p:spPr>
        <p:txBody>
          <a:bodyPr anchor="t" wrap="square"/>
          <a:p>
            <a:pPr algn="l">
              <a:defRPr b="0" sz="2200">
                <a:solidFill>
                  <a:srgbClr val="2B8EC4"/>
                </a:solidFill>
                <a:latin typeface="Calibri"/>
              </a:defRPr>
            </a:pPr>
            <a:r>
              <a:t>📌</a:t>
            </a:r>
          </a:p>
        </p:txBody>
      </p:sp>
      <p:sp>
        <p:nvSpPr>
          <p:cNvPr id="1048686" name="TextBox 34"/>
          <p:cNvSpPr txBox="1"/>
          <p:nvPr/>
        </p:nvSpPr>
        <p:spPr>
          <a:xfrm>
            <a:off x="8458200" y="4206240"/>
            <a:ext cx="2560320" cy="274320"/>
          </a:xfrm>
          <a:prstGeom prst="rect"/>
          <a:noFill/>
        </p:spPr>
        <p:txBody>
          <a:bodyPr anchor="t" wrap="square"/>
          <a:p>
            <a:pPr algn="l">
              <a:defRPr b="1" sz="1400">
                <a:solidFill>
                  <a:srgbClr val="0F2B46"/>
                </a:solidFill>
                <a:latin typeface="Calibri"/>
              </a:defRPr>
            </a:pPr>
            <a:r>
              <a:t>Source Citations</a:t>
            </a:r>
          </a:p>
        </p:txBody>
      </p:sp>
      <p:sp>
        <p:nvSpPr>
          <p:cNvPr id="1048687" name="TextBox 35"/>
          <p:cNvSpPr txBox="1"/>
          <p:nvPr/>
        </p:nvSpPr>
        <p:spPr>
          <a:xfrm>
            <a:off x="8458200" y="4526280"/>
            <a:ext cx="2560320" cy="777240"/>
          </a:xfrm>
          <a:prstGeom prst="rect"/>
          <a:noFill/>
        </p:spPr>
        <p:txBody>
          <a:bodyPr anchor="t" wrap="square"/>
          <a:p>
            <a:pPr algn="l">
              <a:defRPr b="0" sz="1100">
                <a:solidFill>
                  <a:srgbClr val="6B7B8D"/>
                </a:solidFill>
                <a:latin typeface="Calibri"/>
              </a:defRPr>
            </a:pPr>
            <a:r>
              <a:t>Page-level citations</a:t>
            </a:r>
            <a:br/>
            <a:r>
              <a:t>with every response</a:t>
            </a:r>
          </a:p>
        </p:txBody>
      </p:sp>
      <p:sp>
        <p:nvSpPr>
          <p:cNvPr id="1048688" name="Rectangle 36"/>
          <p:cNvSpPr/>
          <p:nvPr/>
        </p:nvSpPr>
        <p:spPr>
          <a:xfrm>
            <a:off x="640080" y="5440680"/>
            <a:ext cx="10881360" cy="502920"/>
          </a:xfrm>
          <a:prstGeom prst="rect"/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9" name="TextBox 37"/>
          <p:cNvSpPr txBox="1"/>
          <p:nvPr/>
        </p:nvSpPr>
        <p:spPr>
          <a:xfrm>
            <a:off x="914400" y="5440680"/>
            <a:ext cx="10424160" cy="502920"/>
          </a:xfrm>
          <a:prstGeom prst="rect"/>
          <a:noFill/>
        </p:spPr>
        <p:txBody>
          <a:bodyPr anchor="ctr" wrap="square"/>
          <a:p>
            <a:pPr algn="l">
              <a:defRPr b="0" sz="1200">
                <a:solidFill>
                  <a:srgbClr val="FFFFFF"/>
                </a:solidFill>
                <a:latin typeface="Calibri"/>
              </a:defRPr>
            </a:pPr>
            <a:r>
              <a:t>🎯  Objective: Demonstrate that hybrid RAG can power Cotiviti's clinical document workflows with accuracy, transparency, and auditability.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/>
      </p:grpSpPr>
      <p:sp>
        <p:nvSpPr>
          <p:cNvPr id="1048693" name="Rectangle 1"/>
          <p:cNvSpPr/>
          <p:nvPr/>
        </p:nvSpPr>
        <p:spPr>
          <a:xfrm>
            <a:off x="0" y="0"/>
            <a:ext cx="12191695" cy="54864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4" name="TextBox 2"/>
          <p:cNvSpPr txBox="1"/>
          <p:nvPr/>
        </p:nvSpPr>
        <p:spPr>
          <a:xfrm>
            <a:off x="640080" y="320040"/>
            <a:ext cx="9144000" cy="548640"/>
          </a:xfrm>
          <a:prstGeom prst="rect"/>
          <a:noFill/>
        </p:spPr>
        <p:txBody>
          <a:bodyPr anchor="t" wrap="square"/>
          <a:p>
            <a:pPr algn="l">
              <a:defRPr b="1" sz="3000">
                <a:solidFill>
                  <a:srgbClr val="0F2B46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1048695" name="TextBox 3"/>
          <p:cNvSpPr txBox="1"/>
          <p:nvPr/>
        </p:nvSpPr>
        <p:spPr>
          <a:xfrm>
            <a:off x="640080" y="868680"/>
            <a:ext cx="9144000" cy="320040"/>
          </a:xfrm>
          <a:prstGeom prst="rect"/>
          <a:noFill/>
        </p:spPr>
        <p:txBody>
          <a:bodyPr anchor="t" wrap="square"/>
          <a:p>
            <a:pPr algn="l">
              <a:defRPr b="0" sz="1400">
                <a:solidFill>
                  <a:srgbClr val="6B7B8D"/>
                </a:solidFill>
                <a:latin typeface="Calibri"/>
              </a:defRPr>
            </a:pPr>
            <a:r>
              <a:t>Four-stage hybrid RAG pipeline</a:t>
            </a:r>
          </a:p>
        </p:txBody>
      </p:sp>
      <p:sp>
        <p:nvSpPr>
          <p:cNvPr id="1048696" name="Rectangle 4"/>
          <p:cNvSpPr/>
          <p:nvPr/>
        </p:nvSpPr>
        <p:spPr>
          <a:xfrm>
            <a:off x="640080" y="1188720"/>
            <a:ext cx="1645920" cy="32004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7" name="TextBox 5"/>
          <p:cNvSpPr txBox="1"/>
          <p:nvPr/>
        </p:nvSpPr>
        <p:spPr>
          <a:xfrm>
            <a:off x="640080" y="1353312"/>
            <a:ext cx="1828800" cy="228600"/>
          </a:xfrm>
          <a:prstGeom prst="rect"/>
          <a:noFill/>
        </p:spPr>
        <p:txBody>
          <a:bodyPr anchor="t" wrap="square"/>
          <a:p>
            <a:pPr algn="l">
              <a:defRPr b="1" sz="1000">
                <a:solidFill>
                  <a:srgbClr val="2B8EC4"/>
                </a:solidFill>
                <a:latin typeface="Segoe UI"/>
              </a:defRPr>
            </a:pPr>
            <a:r>
              <a:t>INGESTION</a:t>
            </a:r>
          </a:p>
        </p:txBody>
      </p:sp>
      <p:sp>
        <p:nvSpPr>
          <p:cNvPr id="1048698" name="Rounded Rectangle 6"/>
          <p:cNvSpPr/>
          <p:nvPr/>
        </p:nvSpPr>
        <p:spPr>
          <a:xfrm>
            <a:off x="640080" y="1600200"/>
            <a:ext cx="1508760" cy="658368"/>
          </a:xfrm>
          <a:prstGeom prst="roundRect"/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9" name="TextBox 7"/>
          <p:cNvSpPr txBox="1"/>
          <p:nvPr/>
        </p:nvSpPr>
        <p:spPr>
          <a:xfrm>
            <a:off x="640080" y="1600200"/>
            <a:ext cx="1508760" cy="658368"/>
          </a:xfrm>
          <a:prstGeom prst="rect"/>
          <a:noFill/>
        </p:spPr>
        <p:txBody>
          <a:bodyPr anchor="ctr" wrap="square"/>
          <a:p>
            <a:pPr algn="ctr">
              <a:defRPr b="1" sz="1100">
                <a:solidFill>
                  <a:srgbClr val="FFFFFF"/>
                </a:solidFill>
                <a:latin typeface="Segoe UI"/>
              </a:defRPr>
            </a:pPr>
            <a:r>
              <a:t>Medical</a:t>
            </a:r>
            <a:br/>
            <a:r>
              <a:t>PDF</a:t>
            </a:r>
          </a:p>
        </p:txBody>
      </p:sp>
      <p:sp>
        <p:nvSpPr>
          <p:cNvPr id="1048700" name="Right Arrow 8"/>
          <p:cNvSpPr/>
          <p:nvPr/>
        </p:nvSpPr>
        <p:spPr>
          <a:xfrm>
            <a:off x="2167128" y="1847088"/>
            <a:ext cx="237744" cy="164592"/>
          </a:xfrm>
          <a:prstGeom prst="rightArrow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1" name="Rounded Rectangle 9"/>
          <p:cNvSpPr/>
          <p:nvPr/>
        </p:nvSpPr>
        <p:spPr>
          <a:xfrm>
            <a:off x="2423160" y="1600200"/>
            <a:ext cx="1508760" cy="658368"/>
          </a:xfrm>
          <a:prstGeom prst="roundRect"/>
          <a:solidFill>
            <a:srgbClr val="1E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2" name="TextBox 10"/>
          <p:cNvSpPr txBox="1"/>
          <p:nvPr/>
        </p:nvSpPr>
        <p:spPr>
          <a:xfrm>
            <a:off x="2423160" y="1600200"/>
            <a:ext cx="1508760" cy="658368"/>
          </a:xfrm>
          <a:prstGeom prst="rect"/>
          <a:noFill/>
        </p:spPr>
        <p:txBody>
          <a:bodyPr anchor="ctr" wrap="square"/>
          <a:p>
            <a:pPr algn="ctr">
              <a:defRPr b="1" sz="1100">
                <a:solidFill>
                  <a:srgbClr val="FFFFFF"/>
                </a:solidFill>
                <a:latin typeface="Segoe UI"/>
              </a:defRPr>
            </a:pPr>
            <a:r>
              <a:t>PyMuPDF</a:t>
            </a:r>
            <a:br/>
            <a:r>
              <a:t>Loader</a:t>
            </a:r>
          </a:p>
        </p:txBody>
      </p:sp>
      <p:sp>
        <p:nvSpPr>
          <p:cNvPr id="1048703" name="Right Arrow 11"/>
          <p:cNvSpPr/>
          <p:nvPr/>
        </p:nvSpPr>
        <p:spPr>
          <a:xfrm>
            <a:off x="3950208" y="1847088"/>
            <a:ext cx="237744" cy="164592"/>
          </a:xfrm>
          <a:prstGeom prst="rightArrow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4" name="Rounded Rectangle 12"/>
          <p:cNvSpPr/>
          <p:nvPr/>
        </p:nvSpPr>
        <p:spPr>
          <a:xfrm>
            <a:off x="4206240" y="1600200"/>
            <a:ext cx="1508760" cy="658368"/>
          </a:xfrm>
          <a:prstGeom prst="roundRect"/>
          <a:solidFill>
            <a:srgbClr val="1E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5" name="TextBox 13"/>
          <p:cNvSpPr txBox="1"/>
          <p:nvPr/>
        </p:nvSpPr>
        <p:spPr>
          <a:xfrm>
            <a:off x="4206240" y="1600200"/>
            <a:ext cx="1508760" cy="658368"/>
          </a:xfrm>
          <a:prstGeom prst="rect"/>
          <a:noFill/>
        </p:spPr>
        <p:txBody>
          <a:bodyPr anchor="ctr" wrap="square"/>
          <a:p>
            <a:pPr algn="ctr">
              <a:defRPr b="1" sz="1100">
                <a:solidFill>
                  <a:srgbClr val="FFFFFF"/>
                </a:solidFill>
                <a:latin typeface="Segoe UI"/>
              </a:defRPr>
            </a:pPr>
            <a:r>
              <a:t>Text</a:t>
            </a:r>
            <a:br/>
            <a:r>
              <a:t>Cleaner</a:t>
            </a:r>
          </a:p>
        </p:txBody>
      </p:sp>
      <p:sp>
        <p:nvSpPr>
          <p:cNvPr id="1048706" name="Right Arrow 14"/>
          <p:cNvSpPr/>
          <p:nvPr/>
        </p:nvSpPr>
        <p:spPr>
          <a:xfrm>
            <a:off x="5733288" y="1847088"/>
            <a:ext cx="237744" cy="164592"/>
          </a:xfrm>
          <a:prstGeom prst="rightArrow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7" name="Rounded Rectangle 15"/>
          <p:cNvSpPr/>
          <p:nvPr/>
        </p:nvSpPr>
        <p:spPr>
          <a:xfrm>
            <a:off x="5989320" y="1600200"/>
            <a:ext cx="1508760" cy="658368"/>
          </a:xfrm>
          <a:prstGeom prst="roundRect"/>
          <a:solidFill>
            <a:srgbClr val="1E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8" name="TextBox 16"/>
          <p:cNvSpPr txBox="1"/>
          <p:nvPr/>
        </p:nvSpPr>
        <p:spPr>
          <a:xfrm>
            <a:off x="5989320" y="1600200"/>
            <a:ext cx="1508760" cy="658368"/>
          </a:xfrm>
          <a:prstGeom prst="rect"/>
          <a:noFill/>
        </p:spPr>
        <p:txBody>
          <a:bodyPr anchor="ctr" wrap="square"/>
          <a:p>
            <a:pPr algn="ctr">
              <a:defRPr b="1" sz="1100">
                <a:solidFill>
                  <a:srgbClr val="FFFFFF"/>
                </a:solidFill>
                <a:latin typeface="Segoe UI"/>
              </a:defRPr>
            </a:pPr>
            <a:r>
              <a:t>Recursive</a:t>
            </a:r>
            <a:br/>
            <a:r>
              <a:t>Chunker</a:t>
            </a:r>
          </a:p>
        </p:txBody>
      </p:sp>
      <p:sp>
        <p:nvSpPr>
          <p:cNvPr id="1048709" name="Down Arrow 17"/>
          <p:cNvSpPr/>
          <p:nvPr/>
        </p:nvSpPr>
        <p:spPr>
          <a:xfrm>
            <a:off x="6643116" y="2295144"/>
            <a:ext cx="201168" cy="274320"/>
          </a:xfrm>
          <a:prstGeom prst="downArrow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0" name="TextBox 18"/>
          <p:cNvSpPr txBox="1"/>
          <p:nvPr/>
        </p:nvSpPr>
        <p:spPr>
          <a:xfrm>
            <a:off x="640080" y="2450592"/>
            <a:ext cx="1828800" cy="228600"/>
          </a:xfrm>
          <a:prstGeom prst="rect"/>
          <a:noFill/>
        </p:spPr>
        <p:txBody>
          <a:bodyPr anchor="t" wrap="square"/>
          <a:p>
            <a:pPr algn="l">
              <a:defRPr b="1" sz="1000">
                <a:solidFill>
                  <a:srgbClr val="2B8EC4"/>
                </a:solidFill>
                <a:latin typeface="Segoe UI"/>
              </a:defRPr>
            </a:pPr>
            <a:r>
              <a:t>DUAL INDEXING</a:t>
            </a:r>
          </a:p>
        </p:txBody>
      </p:sp>
      <p:sp>
        <p:nvSpPr>
          <p:cNvPr id="1048711" name="Rounded Rectangle 19"/>
          <p:cNvSpPr/>
          <p:nvPr/>
        </p:nvSpPr>
        <p:spPr>
          <a:xfrm>
            <a:off x="3017520" y="2697480"/>
            <a:ext cx="2011680" cy="658368"/>
          </a:xfrm>
          <a:prstGeom prst="roundRect"/>
          <a:solidFill>
            <a:srgbClr val="1E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2" name="TextBox 20"/>
          <p:cNvSpPr txBox="1"/>
          <p:nvPr/>
        </p:nvSpPr>
        <p:spPr>
          <a:xfrm>
            <a:off x="3017520" y="2697480"/>
            <a:ext cx="2011680" cy="658368"/>
          </a:xfrm>
          <a:prstGeom prst="rect"/>
          <a:noFill/>
        </p:spPr>
        <p:txBody>
          <a:bodyPr anchor="ctr" wrap="square"/>
          <a:p>
            <a:pPr algn="ctr">
              <a:defRPr b="1" sz="1100">
                <a:solidFill>
                  <a:srgbClr val="FFFFFF"/>
                </a:solidFill>
                <a:latin typeface="Segoe UI"/>
              </a:defRPr>
            </a:pPr>
            <a:r>
              <a:t>FAISS</a:t>
            </a:r>
            <a:br/>
            <a:r>
              <a:t>Dense Index</a:t>
            </a:r>
          </a:p>
        </p:txBody>
      </p:sp>
      <p:sp>
        <p:nvSpPr>
          <p:cNvPr id="1048713" name="Rounded Rectangle 21"/>
          <p:cNvSpPr/>
          <p:nvPr/>
        </p:nvSpPr>
        <p:spPr>
          <a:xfrm>
            <a:off x="5394960" y="2697480"/>
            <a:ext cx="2011680" cy="658368"/>
          </a:xfrm>
          <a:prstGeom prst="roundRect"/>
          <a:solidFill>
            <a:srgbClr val="1E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4" name="TextBox 22"/>
          <p:cNvSpPr txBox="1"/>
          <p:nvPr/>
        </p:nvSpPr>
        <p:spPr>
          <a:xfrm>
            <a:off x="5394960" y="2697480"/>
            <a:ext cx="2011680" cy="658368"/>
          </a:xfrm>
          <a:prstGeom prst="rect"/>
          <a:noFill/>
        </p:spPr>
        <p:txBody>
          <a:bodyPr anchor="ctr" wrap="square"/>
          <a:p>
            <a:pPr algn="ctr">
              <a:defRPr b="1" sz="1100">
                <a:solidFill>
                  <a:srgbClr val="FFFFFF"/>
                </a:solidFill>
                <a:latin typeface="Segoe UI"/>
              </a:defRPr>
            </a:pPr>
            <a:r>
              <a:t>BM25</a:t>
            </a:r>
            <a:br/>
            <a:r>
              <a:t>Sparse Index</a:t>
            </a:r>
          </a:p>
        </p:txBody>
      </p:sp>
      <p:sp>
        <p:nvSpPr>
          <p:cNvPr id="1048715" name="Down Arrow 23"/>
          <p:cNvSpPr/>
          <p:nvPr/>
        </p:nvSpPr>
        <p:spPr>
          <a:xfrm>
            <a:off x="3922776" y="3392424"/>
            <a:ext cx="201168" cy="274320"/>
          </a:xfrm>
          <a:prstGeom prst="downArrow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6" name="Down Arrow 24"/>
          <p:cNvSpPr/>
          <p:nvPr/>
        </p:nvSpPr>
        <p:spPr>
          <a:xfrm>
            <a:off x="6300216" y="3392424"/>
            <a:ext cx="201168" cy="274320"/>
          </a:xfrm>
          <a:prstGeom prst="downArrow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7" name="TextBox 25"/>
          <p:cNvSpPr txBox="1"/>
          <p:nvPr/>
        </p:nvSpPr>
        <p:spPr>
          <a:xfrm>
            <a:off x="640080" y="3547872"/>
            <a:ext cx="1828800" cy="228600"/>
          </a:xfrm>
          <a:prstGeom prst="rect"/>
          <a:noFill/>
        </p:spPr>
        <p:txBody>
          <a:bodyPr anchor="t" wrap="square"/>
          <a:p>
            <a:pPr algn="l">
              <a:defRPr b="1" sz="1000">
                <a:solidFill>
                  <a:srgbClr val="2B8EC4"/>
                </a:solidFill>
                <a:latin typeface="Segoe UI"/>
              </a:defRPr>
            </a:pPr>
            <a:r>
              <a:t>HYBRID RETRIEVAL</a:t>
            </a:r>
          </a:p>
        </p:txBody>
      </p:sp>
      <p:sp>
        <p:nvSpPr>
          <p:cNvPr id="1048718" name="Rounded Rectangle 26"/>
          <p:cNvSpPr/>
          <p:nvPr/>
        </p:nvSpPr>
        <p:spPr>
          <a:xfrm>
            <a:off x="640080" y="3794760"/>
            <a:ext cx="1508760" cy="658368"/>
          </a:xfrm>
          <a:prstGeom prst="roundRect"/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9" name="TextBox 27"/>
          <p:cNvSpPr txBox="1"/>
          <p:nvPr/>
        </p:nvSpPr>
        <p:spPr>
          <a:xfrm>
            <a:off x="640080" y="3794760"/>
            <a:ext cx="1508760" cy="658368"/>
          </a:xfrm>
          <a:prstGeom prst="rect"/>
          <a:noFill/>
        </p:spPr>
        <p:txBody>
          <a:bodyPr anchor="ctr" wrap="square"/>
          <a:p>
            <a:pPr algn="ctr">
              <a:defRPr b="1" sz="1100">
                <a:solidFill>
                  <a:srgbClr val="FFFFFF"/>
                </a:solidFill>
                <a:latin typeface="Segoe UI"/>
              </a:defRPr>
            </a:pPr>
            <a:r>
              <a:t>User</a:t>
            </a:r>
            <a:br/>
            <a:r>
              <a:t>Query</a:t>
            </a:r>
          </a:p>
        </p:txBody>
      </p:sp>
      <p:sp>
        <p:nvSpPr>
          <p:cNvPr id="1048720" name="Right Arrow 28"/>
          <p:cNvSpPr/>
          <p:nvPr/>
        </p:nvSpPr>
        <p:spPr>
          <a:xfrm>
            <a:off x="2167128" y="4041648"/>
            <a:ext cx="237744" cy="164592"/>
          </a:xfrm>
          <a:prstGeom prst="rightArrow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1" name="Rounded Rectangle 29"/>
          <p:cNvSpPr/>
          <p:nvPr/>
        </p:nvSpPr>
        <p:spPr>
          <a:xfrm>
            <a:off x="2423160" y="3794760"/>
            <a:ext cx="1508760" cy="658368"/>
          </a:xfrm>
          <a:prstGeom prst="roundRect"/>
          <a:solidFill>
            <a:srgbClr val="1E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2" name="TextBox 30"/>
          <p:cNvSpPr txBox="1"/>
          <p:nvPr/>
        </p:nvSpPr>
        <p:spPr>
          <a:xfrm>
            <a:off x="2423160" y="3794760"/>
            <a:ext cx="1508760" cy="658368"/>
          </a:xfrm>
          <a:prstGeom prst="rect"/>
          <a:noFill/>
        </p:spPr>
        <p:txBody>
          <a:bodyPr anchor="ctr" wrap="square"/>
          <a:p>
            <a:pPr algn="ctr">
              <a:defRPr b="1" sz="1100">
                <a:solidFill>
                  <a:srgbClr val="FFFFFF"/>
                </a:solidFill>
                <a:latin typeface="Segoe UI"/>
              </a:defRPr>
            </a:pPr>
            <a:r>
              <a:t>Multi-Query</a:t>
            </a:r>
            <a:br/>
            <a:r>
              <a:t>Generator</a:t>
            </a:r>
          </a:p>
        </p:txBody>
      </p:sp>
      <p:sp>
        <p:nvSpPr>
          <p:cNvPr id="1048723" name="Right Arrow 31"/>
          <p:cNvSpPr/>
          <p:nvPr/>
        </p:nvSpPr>
        <p:spPr>
          <a:xfrm>
            <a:off x="3950208" y="4041648"/>
            <a:ext cx="237744" cy="164592"/>
          </a:xfrm>
          <a:prstGeom prst="rightArrow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4" name="Rounded Rectangle 32"/>
          <p:cNvSpPr/>
          <p:nvPr/>
        </p:nvSpPr>
        <p:spPr>
          <a:xfrm>
            <a:off x="4206240" y="3794760"/>
            <a:ext cx="1508760" cy="658368"/>
          </a:xfrm>
          <a:prstGeom prst="roundRect"/>
          <a:solidFill>
            <a:srgbClr val="1E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5" name="TextBox 33"/>
          <p:cNvSpPr txBox="1"/>
          <p:nvPr/>
        </p:nvSpPr>
        <p:spPr>
          <a:xfrm>
            <a:off x="4206240" y="3794760"/>
            <a:ext cx="1508760" cy="658368"/>
          </a:xfrm>
          <a:prstGeom prst="rect"/>
          <a:noFill/>
        </p:spPr>
        <p:txBody>
          <a:bodyPr anchor="ctr" wrap="square"/>
          <a:p>
            <a:pPr algn="ctr">
              <a:defRPr b="1" sz="1100">
                <a:solidFill>
                  <a:srgbClr val="FFFFFF"/>
                </a:solidFill>
                <a:latin typeface="Segoe UI"/>
              </a:defRPr>
            </a:pPr>
            <a:r>
              <a:t>Hybrid</a:t>
            </a:r>
            <a:br/>
            <a:r>
              <a:t>Search</a:t>
            </a:r>
          </a:p>
        </p:txBody>
      </p:sp>
      <p:sp>
        <p:nvSpPr>
          <p:cNvPr id="1048726" name="Right Arrow 34"/>
          <p:cNvSpPr/>
          <p:nvPr/>
        </p:nvSpPr>
        <p:spPr>
          <a:xfrm>
            <a:off x="5733288" y="4041648"/>
            <a:ext cx="237744" cy="164592"/>
          </a:xfrm>
          <a:prstGeom prst="rightArrow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7" name="Rounded Rectangle 35"/>
          <p:cNvSpPr/>
          <p:nvPr/>
        </p:nvSpPr>
        <p:spPr>
          <a:xfrm>
            <a:off x="5989320" y="3794760"/>
            <a:ext cx="1508760" cy="658368"/>
          </a:xfrm>
          <a:prstGeom prst="roundRect"/>
          <a:solidFill>
            <a:srgbClr val="1E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8" name="TextBox 36"/>
          <p:cNvSpPr txBox="1"/>
          <p:nvPr/>
        </p:nvSpPr>
        <p:spPr>
          <a:xfrm>
            <a:off x="5989320" y="3794760"/>
            <a:ext cx="1508760" cy="658368"/>
          </a:xfrm>
          <a:prstGeom prst="rect"/>
          <a:noFill/>
        </p:spPr>
        <p:txBody>
          <a:bodyPr anchor="ctr" wrap="square"/>
          <a:p>
            <a:pPr algn="ctr">
              <a:defRPr b="1" sz="1100">
                <a:solidFill>
                  <a:srgbClr val="FFFFFF"/>
                </a:solidFill>
                <a:latin typeface="Segoe UI"/>
              </a:defRPr>
            </a:pPr>
            <a:r>
              <a:t>RRF</a:t>
            </a:r>
            <a:br/>
            <a:r>
              <a:t>Fusion</a:t>
            </a:r>
          </a:p>
        </p:txBody>
      </p:sp>
      <p:sp>
        <p:nvSpPr>
          <p:cNvPr id="1048729" name="Down Arrow 37"/>
          <p:cNvSpPr/>
          <p:nvPr/>
        </p:nvSpPr>
        <p:spPr>
          <a:xfrm>
            <a:off x="6643116" y="4489704"/>
            <a:ext cx="201168" cy="274320"/>
          </a:xfrm>
          <a:prstGeom prst="downArrow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0" name="TextBox 38"/>
          <p:cNvSpPr txBox="1"/>
          <p:nvPr/>
        </p:nvSpPr>
        <p:spPr>
          <a:xfrm>
            <a:off x="640080" y="4645152"/>
            <a:ext cx="1828800" cy="228600"/>
          </a:xfrm>
          <a:prstGeom prst="rect"/>
          <a:noFill/>
        </p:spPr>
        <p:txBody>
          <a:bodyPr anchor="t" wrap="square"/>
          <a:p>
            <a:pPr algn="l">
              <a:defRPr b="1" sz="1000">
                <a:solidFill>
                  <a:srgbClr val="2B8EC4"/>
                </a:solidFill>
                <a:latin typeface="Segoe UI"/>
              </a:defRPr>
            </a:pPr>
            <a:r>
              <a:t>GROUNDED GENERATION</a:t>
            </a:r>
          </a:p>
        </p:txBody>
      </p:sp>
      <p:sp>
        <p:nvSpPr>
          <p:cNvPr id="1048731" name="Rounded Rectangle 39"/>
          <p:cNvSpPr/>
          <p:nvPr/>
        </p:nvSpPr>
        <p:spPr>
          <a:xfrm>
            <a:off x="3017520" y="4892040"/>
            <a:ext cx="2011680" cy="658368"/>
          </a:xfrm>
          <a:prstGeom prst="roundRect"/>
          <a:solidFill>
            <a:srgbClr val="B8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2" name="TextBox 40"/>
          <p:cNvSpPr txBox="1"/>
          <p:nvPr/>
        </p:nvSpPr>
        <p:spPr>
          <a:xfrm>
            <a:off x="3017520" y="4892040"/>
            <a:ext cx="2011680" cy="658368"/>
          </a:xfrm>
          <a:prstGeom prst="rect"/>
          <a:noFill/>
        </p:spPr>
        <p:txBody>
          <a:bodyPr anchor="ctr" wrap="square"/>
          <a:p>
            <a:pPr algn="ctr">
              <a:defRPr b="1" sz="1100">
                <a:solidFill>
                  <a:srgbClr val="FFFFFF"/>
                </a:solidFill>
                <a:latin typeface="Segoe UI"/>
              </a:defRPr>
            </a:pPr>
            <a:r>
              <a:t>GPT-4.1-mini</a:t>
            </a:r>
            <a:br/>
            <a:r>
              <a:t>Generator</a:t>
            </a:r>
          </a:p>
        </p:txBody>
      </p:sp>
      <p:sp>
        <p:nvSpPr>
          <p:cNvPr id="1048733" name="Right Arrow 41"/>
          <p:cNvSpPr/>
          <p:nvPr/>
        </p:nvSpPr>
        <p:spPr>
          <a:xfrm>
            <a:off x="5074920" y="5138928"/>
            <a:ext cx="274320" cy="164592"/>
          </a:xfrm>
          <a:prstGeom prst="rightArrow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4" name="Rounded Rectangle 42"/>
          <p:cNvSpPr/>
          <p:nvPr/>
        </p:nvSpPr>
        <p:spPr>
          <a:xfrm>
            <a:off x="5349240" y="4892040"/>
            <a:ext cx="1417320" cy="658368"/>
          </a:xfrm>
          <a:prstGeom prst="roundRect"/>
          <a:solidFill>
            <a:srgbClr val="00A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5" name="TextBox 43"/>
          <p:cNvSpPr txBox="1"/>
          <p:nvPr/>
        </p:nvSpPr>
        <p:spPr>
          <a:xfrm>
            <a:off x="5349240" y="4892040"/>
            <a:ext cx="1417320" cy="658368"/>
          </a:xfrm>
          <a:prstGeom prst="rect"/>
          <a:noFill/>
        </p:spPr>
        <p:txBody>
          <a:bodyPr anchor="ctr" wrap="square"/>
          <a:p>
            <a:pPr algn="ctr">
              <a:defRPr b="1" sz="1100">
                <a:solidFill>
                  <a:srgbClr val="FFFFFF"/>
                </a:solidFill>
                <a:latin typeface="Segoe UI"/>
              </a:defRPr>
            </a:pPr>
            <a:r>
              <a:t>Clinical</a:t>
            </a:r>
            <a:br/>
            <a:r>
              <a:t>Q&amp;A</a:t>
            </a:r>
          </a:p>
        </p:txBody>
      </p:sp>
      <p:sp>
        <p:nvSpPr>
          <p:cNvPr id="1048736" name="Rounded Rectangle 44"/>
          <p:cNvSpPr/>
          <p:nvPr/>
        </p:nvSpPr>
        <p:spPr>
          <a:xfrm>
            <a:off x="6876288" y="4892040"/>
            <a:ext cx="1417320" cy="658368"/>
          </a:xfrm>
          <a:prstGeom prst="roundRect"/>
          <a:solidFill>
            <a:srgbClr val="00A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7" name="TextBox 45"/>
          <p:cNvSpPr txBox="1"/>
          <p:nvPr/>
        </p:nvSpPr>
        <p:spPr>
          <a:xfrm>
            <a:off x="6876288" y="4892040"/>
            <a:ext cx="1417320" cy="658368"/>
          </a:xfrm>
          <a:prstGeom prst="rect"/>
          <a:noFill/>
        </p:spPr>
        <p:txBody>
          <a:bodyPr anchor="ctr" wrap="square"/>
          <a:p>
            <a:pPr algn="ctr">
              <a:defRPr b="1" sz="1100">
                <a:solidFill>
                  <a:srgbClr val="FFFFFF"/>
                </a:solidFill>
                <a:latin typeface="Segoe UI"/>
              </a:defRPr>
            </a:pPr>
            <a:r>
              <a:t>Medical</a:t>
            </a:r>
            <a:br/>
            <a:r>
              <a:t>Summary</a:t>
            </a:r>
          </a:p>
        </p:txBody>
      </p:sp>
      <p:sp>
        <p:nvSpPr>
          <p:cNvPr id="1048738" name="Rounded Rectangle 46"/>
          <p:cNvSpPr/>
          <p:nvPr/>
        </p:nvSpPr>
        <p:spPr>
          <a:xfrm>
            <a:off x="8403336" y="4892040"/>
            <a:ext cx="1417320" cy="658368"/>
          </a:xfrm>
          <a:prstGeom prst="roundRect"/>
          <a:solidFill>
            <a:srgbClr val="00A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9" name="TextBox 47"/>
          <p:cNvSpPr txBox="1"/>
          <p:nvPr/>
        </p:nvSpPr>
        <p:spPr>
          <a:xfrm>
            <a:off x="8403336" y="4892040"/>
            <a:ext cx="1417320" cy="658368"/>
          </a:xfrm>
          <a:prstGeom prst="rect"/>
          <a:noFill/>
        </p:spPr>
        <p:txBody>
          <a:bodyPr anchor="ctr" wrap="square"/>
          <a:p>
            <a:pPr algn="ctr">
              <a:defRPr b="1" sz="1100">
                <a:solidFill>
                  <a:srgbClr val="FFFFFF"/>
                </a:solidFill>
                <a:latin typeface="Segoe UI"/>
              </a:defRPr>
            </a:pPr>
            <a:r>
              <a:t>Source</a:t>
            </a:r>
            <a:br/>
            <a:r>
              <a:t>Citations</a:t>
            </a:r>
          </a:p>
        </p:txBody>
      </p:sp>
      <p:sp>
        <p:nvSpPr>
          <p:cNvPr id="1048740" name="Rounded Rectangle 48"/>
          <p:cNvSpPr/>
          <p:nvPr/>
        </p:nvSpPr>
        <p:spPr>
          <a:xfrm>
            <a:off x="8686800" y="1600200"/>
            <a:ext cx="3017520" cy="393192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1" name="TextBox 49"/>
          <p:cNvSpPr txBox="1"/>
          <p:nvPr/>
        </p:nvSpPr>
        <p:spPr>
          <a:xfrm>
            <a:off x="8823960" y="1691640"/>
            <a:ext cx="2743200" cy="274320"/>
          </a:xfrm>
          <a:prstGeom prst="rect"/>
          <a:noFill/>
        </p:spPr>
        <p:txBody>
          <a:bodyPr anchor="t" wrap="square"/>
          <a:p>
            <a:pPr algn="l">
              <a:defRPr b="1" sz="1400">
                <a:solidFill>
                  <a:srgbClr val="0F2B46"/>
                </a:solidFill>
                <a:latin typeface="Aptos"/>
              </a:defRPr>
            </a:pPr>
            <a:r>
              <a:t>⚙️  Configuration</a:t>
            </a:r>
          </a:p>
        </p:txBody>
      </p:sp>
      <p:sp>
        <p:nvSpPr>
          <p:cNvPr id="1048742" name="TextBox 50"/>
          <p:cNvSpPr txBox="1"/>
          <p:nvPr/>
        </p:nvSpPr>
        <p:spPr>
          <a:xfrm>
            <a:off x="8823960" y="2011680"/>
            <a:ext cx="2743200" cy="3383280"/>
          </a:xfrm>
          <a:prstGeom prst="rect"/>
          <a:noFill/>
        </p:spPr>
        <p:txBody>
          <a:bodyPr wrap="square"/>
          <a:p>
            <a:pPr algn="l">
              <a:spcBef>
                <a:spcPts val="800"/>
              </a:spcBef>
              <a:defRPr b="1" sz="1100">
                <a:solidFill>
                  <a:srgbClr val="6B7B8D"/>
                </a:solidFill>
                <a:latin typeface="Calibri"/>
              </a:defRPr>
            </a:pPr>
            <a:r>
              <a:t>LLM</a:t>
            </a:r>
          </a:p>
          <a:p>
            <a:pPr algn="l">
              <a:spcAft>
                <a:spcPts val="600"/>
              </a:spcAft>
              <a:defRPr b="0" sz="1100">
                <a:solidFill>
                  <a:srgbClr val="1A1A2E"/>
                </a:solidFill>
                <a:latin typeface="Calibri"/>
              </a:defRPr>
            </a:pPr>
            <a:r>
              <a:t>GPT-4.1-mini (temp=0)</a:t>
            </a:r>
          </a:p>
          <a:p>
            <a:pPr algn="l">
              <a:spcBef>
                <a:spcPts val="400"/>
              </a:spcBef>
              <a:defRPr b="1" sz="1100">
                <a:solidFill>
                  <a:srgbClr val="6B7B8D"/>
                </a:solidFill>
                <a:latin typeface="Calibri"/>
              </a:defRPr>
            </a:pPr>
            <a:r>
              <a:t>Embeddings</a:t>
            </a:r>
          </a:p>
          <a:p>
            <a:pPr algn="l">
              <a:spcAft>
                <a:spcPts val="600"/>
              </a:spcAft>
              <a:defRPr b="0" sz="1100">
                <a:solidFill>
                  <a:srgbClr val="1A1A2E"/>
                </a:solidFill>
                <a:latin typeface="Calibri"/>
              </a:defRPr>
            </a:pPr>
            <a:r>
              <a:t>text-embedding-3-small</a:t>
            </a:r>
          </a:p>
          <a:p>
            <a:pPr algn="l">
              <a:spcBef>
                <a:spcPts val="400"/>
              </a:spcBef>
              <a:defRPr b="1" sz="1100">
                <a:solidFill>
                  <a:srgbClr val="6B7B8D"/>
                </a:solidFill>
                <a:latin typeface="Calibri"/>
              </a:defRPr>
            </a:pPr>
            <a:r>
              <a:t>Chunk Size</a:t>
            </a:r>
          </a:p>
          <a:p>
            <a:pPr algn="l">
              <a:spcAft>
                <a:spcPts val="600"/>
              </a:spcAft>
              <a:defRPr b="0" sz="1100">
                <a:solidFill>
                  <a:srgbClr val="1A1A2E"/>
                </a:solidFill>
                <a:latin typeface="Calibri"/>
              </a:defRPr>
            </a:pPr>
            <a:r>
              <a:t>1,000 chars / 200 overlap</a:t>
            </a:r>
          </a:p>
          <a:p>
            <a:pPr algn="l">
              <a:spcBef>
                <a:spcPts val="400"/>
              </a:spcBef>
              <a:defRPr b="1" sz="1100">
                <a:solidFill>
                  <a:srgbClr val="6B7B8D"/>
                </a:solidFill>
                <a:latin typeface="Calibri"/>
              </a:defRPr>
            </a:pPr>
            <a:r>
              <a:t>Multi-Query</a:t>
            </a:r>
          </a:p>
          <a:p>
            <a:pPr algn="l">
              <a:spcAft>
                <a:spcPts val="600"/>
              </a:spcAft>
              <a:defRPr b="0" sz="1100">
                <a:solidFill>
                  <a:srgbClr val="1A1A2E"/>
                </a:solidFill>
                <a:latin typeface="Calibri"/>
              </a:defRPr>
            </a:pPr>
            <a:r>
              <a:t>4 query reformulations</a:t>
            </a:r>
          </a:p>
          <a:p>
            <a:pPr algn="l">
              <a:spcBef>
                <a:spcPts val="400"/>
              </a:spcBef>
              <a:defRPr b="1" sz="1100">
                <a:solidFill>
                  <a:srgbClr val="6B7B8D"/>
                </a:solidFill>
                <a:latin typeface="Calibri"/>
              </a:defRPr>
            </a:pPr>
            <a:r>
              <a:t>RRF Parameter</a:t>
            </a:r>
          </a:p>
          <a:p>
            <a:pPr algn="l">
              <a:spcAft>
                <a:spcPts val="600"/>
              </a:spcAft>
              <a:defRPr b="0" sz="1100">
                <a:solidFill>
                  <a:srgbClr val="1A1A2E"/>
                </a:solidFill>
                <a:latin typeface="Calibri"/>
              </a:defRPr>
            </a:pPr>
            <a:r>
              <a:t>k = 60</a:t>
            </a:r>
          </a:p>
          <a:p>
            <a:pPr algn="l">
              <a:spcBef>
                <a:spcPts val="400"/>
              </a:spcBef>
              <a:defRPr b="1" sz="1100">
                <a:solidFill>
                  <a:srgbClr val="6B7B8D"/>
                </a:solidFill>
                <a:latin typeface="Calibri"/>
              </a:defRPr>
            </a:pPr>
            <a:r>
              <a:t>Top-K Results</a:t>
            </a:r>
          </a:p>
          <a:p>
            <a:pPr algn="l">
              <a:defRPr b="0" sz="1100">
                <a:solidFill>
                  <a:srgbClr val="1A1A2E"/>
                </a:solidFill>
                <a:latin typeface="Calibri"/>
              </a:defRPr>
            </a:pPr>
            <a:r>
              <a:t>5 passages returned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/>
      </p:grpSpPr>
      <p:sp>
        <p:nvSpPr>
          <p:cNvPr id="1048746" name="Rectangle 1"/>
          <p:cNvSpPr/>
          <p:nvPr/>
        </p:nvSpPr>
        <p:spPr>
          <a:xfrm>
            <a:off x="0" y="0"/>
            <a:ext cx="12191695" cy="54864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7" name="TextBox 2"/>
          <p:cNvSpPr txBox="1"/>
          <p:nvPr/>
        </p:nvSpPr>
        <p:spPr>
          <a:xfrm>
            <a:off x="640080" y="320040"/>
            <a:ext cx="9144000" cy="548640"/>
          </a:xfrm>
          <a:prstGeom prst="rect"/>
          <a:noFill/>
        </p:spPr>
        <p:txBody>
          <a:bodyPr anchor="t" wrap="square"/>
          <a:p>
            <a:pPr algn="l">
              <a:defRPr b="1" sz="3000">
                <a:solidFill>
                  <a:srgbClr val="0F2B46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1048748" name="TextBox 3"/>
          <p:cNvSpPr txBox="1"/>
          <p:nvPr/>
        </p:nvSpPr>
        <p:spPr>
          <a:xfrm>
            <a:off x="640080" y="868680"/>
            <a:ext cx="9144000" cy="320040"/>
          </a:xfrm>
          <a:prstGeom prst="rect"/>
          <a:noFill/>
        </p:spPr>
        <p:txBody>
          <a:bodyPr anchor="t" wrap="square"/>
          <a:p>
            <a:pPr algn="l">
              <a:defRPr b="0" sz="1400">
                <a:solidFill>
                  <a:srgbClr val="6B7B8D"/>
                </a:solidFill>
                <a:latin typeface="Calibri"/>
              </a:defRPr>
            </a:pPr>
            <a:r>
              <a:t>Built with production-grade open-source and API components</a:t>
            </a:r>
          </a:p>
        </p:txBody>
      </p:sp>
      <p:sp>
        <p:nvSpPr>
          <p:cNvPr id="1048749" name="Rectangle 4"/>
          <p:cNvSpPr/>
          <p:nvPr/>
        </p:nvSpPr>
        <p:spPr>
          <a:xfrm>
            <a:off x="640080" y="1188720"/>
            <a:ext cx="1645920" cy="32004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0" name="Rounded Rectangle 5"/>
          <p:cNvSpPr/>
          <p:nvPr/>
        </p:nvSpPr>
        <p:spPr>
          <a:xfrm>
            <a:off x="640080" y="1508760"/>
            <a:ext cx="2606040" cy="594360"/>
          </a:xfrm>
          <a:prstGeom prst="roundRect"/>
          <a:solidFill>
            <a:srgbClr val="1E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1" name="TextBox 6"/>
          <p:cNvSpPr txBox="1"/>
          <p:nvPr/>
        </p:nvSpPr>
        <p:spPr>
          <a:xfrm>
            <a:off x="640080" y="1508760"/>
            <a:ext cx="2606040" cy="594360"/>
          </a:xfrm>
          <a:prstGeom prst="rect"/>
          <a:noFill/>
        </p:spPr>
        <p:txBody>
          <a:bodyPr anchor="ctr" wrap="square"/>
          <a:p>
            <a:pPr algn="ctr">
              <a:defRPr b="1" sz="1400">
                <a:solidFill>
                  <a:srgbClr val="FFFFFF"/>
                </a:solidFill>
                <a:latin typeface="Aptos"/>
              </a:defRPr>
            </a:pPr>
            <a:r>
              <a:t>🤖  LLM &amp; Embeddings</a:t>
            </a:r>
          </a:p>
        </p:txBody>
      </p:sp>
      <p:sp>
        <p:nvSpPr>
          <p:cNvPr id="1048752" name="Rounded Rectangle 7"/>
          <p:cNvSpPr/>
          <p:nvPr/>
        </p:nvSpPr>
        <p:spPr>
          <a:xfrm>
            <a:off x="640080" y="2240280"/>
            <a:ext cx="2606040" cy="82296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3" name="TextBox 8"/>
          <p:cNvSpPr txBox="1"/>
          <p:nvPr/>
        </p:nvSpPr>
        <p:spPr>
          <a:xfrm>
            <a:off x="749808" y="2313432"/>
            <a:ext cx="2386584" cy="292608"/>
          </a:xfrm>
          <a:prstGeom prst="rect"/>
          <a:noFill/>
        </p:spPr>
        <p:txBody>
          <a:bodyPr anchor="t" wrap="square"/>
          <a:p>
            <a:pPr algn="l">
              <a:defRPr b="1" sz="1300">
                <a:solidFill>
                  <a:srgbClr val="0F2B46"/>
                </a:solidFill>
                <a:latin typeface="Calibri"/>
              </a:defRPr>
            </a:pPr>
            <a:r>
              <a:t>GPT-4.1-mini</a:t>
            </a:r>
          </a:p>
        </p:txBody>
      </p:sp>
      <p:sp>
        <p:nvSpPr>
          <p:cNvPr id="1048754" name="TextBox 9"/>
          <p:cNvSpPr txBox="1"/>
          <p:nvPr/>
        </p:nvSpPr>
        <p:spPr>
          <a:xfrm>
            <a:off x="749808" y="2624328"/>
            <a:ext cx="2386584" cy="365760"/>
          </a:xfrm>
          <a:prstGeom prst="rect"/>
          <a:noFill/>
        </p:spPr>
        <p:txBody>
          <a:bodyPr anchor="t" wrap="square"/>
          <a:p>
            <a:pPr algn="l">
              <a:defRPr b="0" sz="1000">
                <a:solidFill>
                  <a:srgbClr val="6B7B8D"/>
                </a:solidFill>
                <a:latin typeface="Calibri"/>
              </a:defRPr>
            </a:pPr>
            <a:r>
              <a:t>Generation &amp; multi-query</a:t>
            </a:r>
          </a:p>
        </p:txBody>
      </p:sp>
      <p:sp>
        <p:nvSpPr>
          <p:cNvPr id="1048755" name="Rounded Rectangle 10"/>
          <p:cNvSpPr/>
          <p:nvPr/>
        </p:nvSpPr>
        <p:spPr>
          <a:xfrm>
            <a:off x="640080" y="3200400"/>
            <a:ext cx="2606040" cy="82296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6" name="TextBox 11"/>
          <p:cNvSpPr txBox="1"/>
          <p:nvPr/>
        </p:nvSpPr>
        <p:spPr>
          <a:xfrm>
            <a:off x="749808" y="3273552"/>
            <a:ext cx="2386584" cy="292608"/>
          </a:xfrm>
          <a:prstGeom prst="rect"/>
          <a:noFill/>
        </p:spPr>
        <p:txBody>
          <a:bodyPr anchor="t" wrap="square"/>
          <a:p>
            <a:pPr algn="l">
              <a:defRPr b="1" sz="1300">
                <a:solidFill>
                  <a:srgbClr val="0F2B46"/>
                </a:solidFill>
                <a:latin typeface="Calibri"/>
              </a:defRPr>
            </a:pPr>
            <a:r>
              <a:t>text-embedding-3-small</a:t>
            </a:r>
          </a:p>
        </p:txBody>
      </p:sp>
      <p:sp>
        <p:nvSpPr>
          <p:cNvPr id="1048757" name="TextBox 12"/>
          <p:cNvSpPr txBox="1"/>
          <p:nvPr/>
        </p:nvSpPr>
        <p:spPr>
          <a:xfrm>
            <a:off x="749808" y="3584448"/>
            <a:ext cx="2386584" cy="365760"/>
          </a:xfrm>
          <a:prstGeom prst="rect"/>
          <a:noFill/>
        </p:spPr>
        <p:txBody>
          <a:bodyPr anchor="t" wrap="square"/>
          <a:p>
            <a:pPr algn="l">
              <a:defRPr b="0" sz="1000">
                <a:solidFill>
                  <a:srgbClr val="6B7B8D"/>
                </a:solidFill>
                <a:latin typeface="Calibri"/>
              </a:defRPr>
            </a:pPr>
            <a:r>
              <a:t>Dense vector embeddings</a:t>
            </a:r>
          </a:p>
        </p:txBody>
      </p:sp>
      <p:sp>
        <p:nvSpPr>
          <p:cNvPr id="1048758" name="Rounded Rectangle 13"/>
          <p:cNvSpPr/>
          <p:nvPr/>
        </p:nvSpPr>
        <p:spPr>
          <a:xfrm>
            <a:off x="640080" y="4160520"/>
            <a:ext cx="2606040" cy="82296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9" name="TextBox 14"/>
          <p:cNvSpPr txBox="1"/>
          <p:nvPr/>
        </p:nvSpPr>
        <p:spPr>
          <a:xfrm>
            <a:off x="749808" y="4233672"/>
            <a:ext cx="2386584" cy="292608"/>
          </a:xfrm>
          <a:prstGeom prst="rect"/>
          <a:noFill/>
        </p:spPr>
        <p:txBody>
          <a:bodyPr anchor="t" wrap="square"/>
          <a:p>
            <a:pPr algn="l">
              <a:defRPr b="1" sz="1300">
                <a:solidFill>
                  <a:srgbClr val="0F2B46"/>
                </a:solidFill>
                <a:latin typeface="Calibri"/>
              </a:defRPr>
            </a:pPr>
            <a:r>
              <a:t>OpenAI API</a:t>
            </a:r>
          </a:p>
        </p:txBody>
      </p:sp>
      <p:sp>
        <p:nvSpPr>
          <p:cNvPr id="1048760" name="TextBox 15"/>
          <p:cNvSpPr txBox="1"/>
          <p:nvPr/>
        </p:nvSpPr>
        <p:spPr>
          <a:xfrm>
            <a:off x="749808" y="4544568"/>
            <a:ext cx="2386584" cy="365760"/>
          </a:xfrm>
          <a:prstGeom prst="rect"/>
          <a:noFill/>
        </p:spPr>
        <p:txBody>
          <a:bodyPr anchor="t" wrap="square"/>
          <a:p>
            <a:pPr algn="l">
              <a:defRPr b="0" sz="1000">
                <a:solidFill>
                  <a:srgbClr val="6B7B8D"/>
                </a:solidFill>
                <a:latin typeface="Calibri"/>
              </a:defRPr>
            </a:pPr>
            <a:r>
              <a:t>LLM provider</a:t>
            </a:r>
          </a:p>
        </p:txBody>
      </p:sp>
      <p:sp>
        <p:nvSpPr>
          <p:cNvPr id="1048761" name="Rounded Rectangle 16"/>
          <p:cNvSpPr/>
          <p:nvPr/>
        </p:nvSpPr>
        <p:spPr>
          <a:xfrm>
            <a:off x="3520440" y="1508760"/>
            <a:ext cx="2606040" cy="594360"/>
          </a:xfrm>
          <a:prstGeom prst="roundRect"/>
          <a:solidFill>
            <a:srgbClr val="1E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2" name="TextBox 17"/>
          <p:cNvSpPr txBox="1"/>
          <p:nvPr/>
        </p:nvSpPr>
        <p:spPr>
          <a:xfrm>
            <a:off x="3520440" y="1508760"/>
            <a:ext cx="2606040" cy="594360"/>
          </a:xfrm>
          <a:prstGeom prst="rect"/>
          <a:noFill/>
        </p:spPr>
        <p:txBody>
          <a:bodyPr anchor="ctr" wrap="square"/>
          <a:p>
            <a:pPr algn="ctr">
              <a:defRPr b="1" sz="1400">
                <a:solidFill>
                  <a:srgbClr val="FFFFFF"/>
                </a:solidFill>
                <a:latin typeface="Aptos"/>
              </a:defRPr>
            </a:pPr>
            <a:r>
              <a:t>🔍  Retrieval</a:t>
            </a:r>
          </a:p>
        </p:txBody>
      </p:sp>
      <p:sp>
        <p:nvSpPr>
          <p:cNvPr id="1048763" name="Rounded Rectangle 18"/>
          <p:cNvSpPr/>
          <p:nvPr/>
        </p:nvSpPr>
        <p:spPr>
          <a:xfrm>
            <a:off x="3520440" y="2240280"/>
            <a:ext cx="2606040" cy="82296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4" name="TextBox 19"/>
          <p:cNvSpPr txBox="1"/>
          <p:nvPr/>
        </p:nvSpPr>
        <p:spPr>
          <a:xfrm>
            <a:off x="3630168" y="2313432"/>
            <a:ext cx="2386584" cy="292608"/>
          </a:xfrm>
          <a:prstGeom prst="rect"/>
          <a:noFill/>
        </p:spPr>
        <p:txBody>
          <a:bodyPr anchor="t" wrap="square"/>
          <a:p>
            <a:pPr algn="l">
              <a:defRPr b="1" sz="1300">
                <a:solidFill>
                  <a:srgbClr val="0F2B46"/>
                </a:solidFill>
                <a:latin typeface="Calibri"/>
              </a:defRPr>
            </a:pPr>
            <a:r>
              <a:t>FAISS</a:t>
            </a:r>
          </a:p>
        </p:txBody>
      </p:sp>
      <p:sp>
        <p:nvSpPr>
          <p:cNvPr id="1048765" name="TextBox 20"/>
          <p:cNvSpPr txBox="1"/>
          <p:nvPr/>
        </p:nvSpPr>
        <p:spPr>
          <a:xfrm>
            <a:off x="3630168" y="2624328"/>
            <a:ext cx="2386584" cy="365760"/>
          </a:xfrm>
          <a:prstGeom prst="rect"/>
          <a:noFill/>
        </p:spPr>
        <p:txBody>
          <a:bodyPr anchor="t" wrap="square"/>
          <a:p>
            <a:pPr algn="l">
              <a:defRPr b="0" sz="1000">
                <a:solidFill>
                  <a:srgbClr val="6B7B8D"/>
                </a:solidFill>
                <a:latin typeface="Calibri"/>
              </a:defRPr>
            </a:pPr>
            <a:r>
              <a:t>Dense similarity search</a:t>
            </a:r>
          </a:p>
        </p:txBody>
      </p:sp>
      <p:sp>
        <p:nvSpPr>
          <p:cNvPr id="1048766" name="Rounded Rectangle 21"/>
          <p:cNvSpPr/>
          <p:nvPr/>
        </p:nvSpPr>
        <p:spPr>
          <a:xfrm>
            <a:off x="3520440" y="3200400"/>
            <a:ext cx="2606040" cy="82296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7" name="TextBox 22"/>
          <p:cNvSpPr txBox="1"/>
          <p:nvPr/>
        </p:nvSpPr>
        <p:spPr>
          <a:xfrm>
            <a:off x="3630168" y="3273552"/>
            <a:ext cx="2386584" cy="292608"/>
          </a:xfrm>
          <a:prstGeom prst="rect"/>
          <a:noFill/>
        </p:spPr>
        <p:txBody>
          <a:bodyPr anchor="t" wrap="square"/>
          <a:p>
            <a:pPr algn="l">
              <a:defRPr b="1" sz="1300">
                <a:solidFill>
                  <a:srgbClr val="0F2B46"/>
                </a:solidFill>
                <a:latin typeface="Calibri"/>
              </a:defRPr>
            </a:pPr>
            <a:r>
              <a:t>BM25Okapi (rank-bm25)</a:t>
            </a:r>
          </a:p>
        </p:txBody>
      </p:sp>
      <p:sp>
        <p:nvSpPr>
          <p:cNvPr id="1048768" name="TextBox 23"/>
          <p:cNvSpPr txBox="1"/>
          <p:nvPr/>
        </p:nvSpPr>
        <p:spPr>
          <a:xfrm>
            <a:off x="3630168" y="3584448"/>
            <a:ext cx="2386584" cy="365760"/>
          </a:xfrm>
          <a:prstGeom prst="rect"/>
          <a:noFill/>
        </p:spPr>
        <p:txBody>
          <a:bodyPr anchor="t" wrap="square"/>
          <a:p>
            <a:pPr algn="l">
              <a:defRPr b="0" sz="1000">
                <a:solidFill>
                  <a:srgbClr val="6B7B8D"/>
                </a:solidFill>
                <a:latin typeface="Calibri"/>
              </a:defRPr>
            </a:pPr>
            <a:r>
              <a:t>Sparse lexical retrieval</a:t>
            </a:r>
          </a:p>
        </p:txBody>
      </p:sp>
      <p:sp>
        <p:nvSpPr>
          <p:cNvPr id="1048769" name="Rounded Rectangle 24"/>
          <p:cNvSpPr/>
          <p:nvPr/>
        </p:nvSpPr>
        <p:spPr>
          <a:xfrm>
            <a:off x="3520440" y="4160520"/>
            <a:ext cx="2606040" cy="82296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0" name="TextBox 25"/>
          <p:cNvSpPr txBox="1"/>
          <p:nvPr/>
        </p:nvSpPr>
        <p:spPr>
          <a:xfrm>
            <a:off x="3630168" y="4233672"/>
            <a:ext cx="2386584" cy="292608"/>
          </a:xfrm>
          <a:prstGeom prst="rect"/>
          <a:noFill/>
        </p:spPr>
        <p:txBody>
          <a:bodyPr anchor="t" wrap="square"/>
          <a:p>
            <a:pPr algn="l">
              <a:defRPr b="1" sz="1300">
                <a:solidFill>
                  <a:srgbClr val="0F2B46"/>
                </a:solidFill>
                <a:latin typeface="Calibri"/>
              </a:defRPr>
            </a:pPr>
            <a:r>
              <a:t>Reciprocal Rank Fusion</a:t>
            </a:r>
          </a:p>
        </p:txBody>
      </p:sp>
      <p:sp>
        <p:nvSpPr>
          <p:cNvPr id="1048771" name="TextBox 26"/>
          <p:cNvSpPr txBox="1"/>
          <p:nvPr/>
        </p:nvSpPr>
        <p:spPr>
          <a:xfrm>
            <a:off x="3630168" y="4544568"/>
            <a:ext cx="2386584" cy="365760"/>
          </a:xfrm>
          <a:prstGeom prst="rect"/>
          <a:noFill/>
        </p:spPr>
        <p:txBody>
          <a:bodyPr anchor="t" wrap="square"/>
          <a:p>
            <a:pPr algn="l">
              <a:defRPr b="0" sz="1000">
                <a:solidFill>
                  <a:srgbClr val="6B7B8D"/>
                </a:solidFill>
                <a:latin typeface="Calibri"/>
              </a:defRPr>
            </a:pPr>
            <a:r>
              <a:t>Score-based result merging</a:t>
            </a:r>
          </a:p>
        </p:txBody>
      </p:sp>
      <p:sp>
        <p:nvSpPr>
          <p:cNvPr id="1048772" name="Rounded Rectangle 27"/>
          <p:cNvSpPr/>
          <p:nvPr/>
        </p:nvSpPr>
        <p:spPr>
          <a:xfrm>
            <a:off x="6400800" y="1508760"/>
            <a:ext cx="2606040" cy="594360"/>
          </a:xfrm>
          <a:prstGeom prst="roundRect"/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3" name="TextBox 28"/>
          <p:cNvSpPr txBox="1"/>
          <p:nvPr/>
        </p:nvSpPr>
        <p:spPr>
          <a:xfrm>
            <a:off x="6400800" y="1508760"/>
            <a:ext cx="2606040" cy="594360"/>
          </a:xfrm>
          <a:prstGeom prst="rect"/>
          <a:noFill/>
        </p:spPr>
        <p:txBody>
          <a:bodyPr anchor="ctr" wrap="square"/>
          <a:p>
            <a:pPr algn="ctr">
              <a:defRPr b="1" sz="1400">
                <a:solidFill>
                  <a:srgbClr val="FFFFFF"/>
                </a:solidFill>
                <a:latin typeface="Aptos"/>
              </a:defRPr>
            </a:pPr>
            <a:r>
              <a:t>🛠️  Framework</a:t>
            </a:r>
          </a:p>
        </p:txBody>
      </p:sp>
      <p:sp>
        <p:nvSpPr>
          <p:cNvPr id="1048774" name="Rounded Rectangle 29"/>
          <p:cNvSpPr/>
          <p:nvPr/>
        </p:nvSpPr>
        <p:spPr>
          <a:xfrm>
            <a:off x="6400800" y="2240280"/>
            <a:ext cx="2606040" cy="82296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5" name="TextBox 30"/>
          <p:cNvSpPr txBox="1"/>
          <p:nvPr/>
        </p:nvSpPr>
        <p:spPr>
          <a:xfrm>
            <a:off x="6510528" y="2313432"/>
            <a:ext cx="2386584" cy="292608"/>
          </a:xfrm>
          <a:prstGeom prst="rect"/>
          <a:noFill/>
        </p:spPr>
        <p:txBody>
          <a:bodyPr anchor="t" wrap="square"/>
          <a:p>
            <a:pPr algn="l">
              <a:defRPr b="1" sz="1300">
                <a:solidFill>
                  <a:srgbClr val="0F2B46"/>
                </a:solidFill>
                <a:latin typeface="Calibri"/>
              </a:defRPr>
            </a:pPr>
            <a:r>
              <a:t>LangChain</a:t>
            </a:r>
          </a:p>
        </p:txBody>
      </p:sp>
      <p:sp>
        <p:nvSpPr>
          <p:cNvPr id="1048776" name="TextBox 31"/>
          <p:cNvSpPr txBox="1"/>
          <p:nvPr/>
        </p:nvSpPr>
        <p:spPr>
          <a:xfrm>
            <a:off x="6510528" y="2624328"/>
            <a:ext cx="2386584" cy="365760"/>
          </a:xfrm>
          <a:prstGeom prst="rect"/>
          <a:noFill/>
        </p:spPr>
        <p:txBody>
          <a:bodyPr anchor="t" wrap="square"/>
          <a:p>
            <a:pPr algn="l">
              <a:defRPr b="0" sz="1000">
                <a:solidFill>
                  <a:srgbClr val="6B7B8D"/>
                </a:solidFill>
                <a:latin typeface="Calibri"/>
              </a:defRPr>
            </a:pPr>
            <a:r>
              <a:t>Orchestration &amp; chunking</a:t>
            </a:r>
          </a:p>
        </p:txBody>
      </p:sp>
      <p:sp>
        <p:nvSpPr>
          <p:cNvPr id="1048777" name="Rounded Rectangle 32"/>
          <p:cNvSpPr/>
          <p:nvPr/>
        </p:nvSpPr>
        <p:spPr>
          <a:xfrm>
            <a:off x="6400800" y="3200400"/>
            <a:ext cx="2606040" cy="82296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8" name="TextBox 33"/>
          <p:cNvSpPr txBox="1"/>
          <p:nvPr/>
        </p:nvSpPr>
        <p:spPr>
          <a:xfrm>
            <a:off x="6510528" y="3273552"/>
            <a:ext cx="2386584" cy="292608"/>
          </a:xfrm>
          <a:prstGeom prst="rect"/>
          <a:noFill/>
        </p:spPr>
        <p:txBody>
          <a:bodyPr anchor="t" wrap="square"/>
          <a:p>
            <a:pPr algn="l">
              <a:defRPr b="1" sz="1300">
                <a:solidFill>
                  <a:srgbClr val="0F2B46"/>
                </a:solidFill>
                <a:latin typeface="Calibri"/>
              </a:defRPr>
            </a:pPr>
            <a:r>
              <a:t>PyMuPDF</a:t>
            </a:r>
          </a:p>
        </p:txBody>
      </p:sp>
      <p:sp>
        <p:nvSpPr>
          <p:cNvPr id="1048779" name="TextBox 34"/>
          <p:cNvSpPr txBox="1"/>
          <p:nvPr/>
        </p:nvSpPr>
        <p:spPr>
          <a:xfrm>
            <a:off x="6510528" y="3584448"/>
            <a:ext cx="2386584" cy="365760"/>
          </a:xfrm>
          <a:prstGeom prst="rect"/>
          <a:noFill/>
        </p:spPr>
        <p:txBody>
          <a:bodyPr anchor="t" wrap="square"/>
          <a:p>
            <a:pPr algn="l">
              <a:defRPr b="0" sz="1000">
                <a:solidFill>
                  <a:srgbClr val="6B7B8D"/>
                </a:solidFill>
                <a:latin typeface="Calibri"/>
              </a:defRPr>
            </a:pPr>
            <a:r>
              <a:t>PDF parsing &amp; extraction</a:t>
            </a:r>
          </a:p>
        </p:txBody>
      </p:sp>
      <p:sp>
        <p:nvSpPr>
          <p:cNvPr id="1048780" name="Rounded Rectangle 35"/>
          <p:cNvSpPr/>
          <p:nvPr/>
        </p:nvSpPr>
        <p:spPr>
          <a:xfrm>
            <a:off x="6400800" y="4160520"/>
            <a:ext cx="2606040" cy="82296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81" name="TextBox 36"/>
          <p:cNvSpPr txBox="1"/>
          <p:nvPr/>
        </p:nvSpPr>
        <p:spPr>
          <a:xfrm>
            <a:off x="6510528" y="4233672"/>
            <a:ext cx="2386584" cy="292608"/>
          </a:xfrm>
          <a:prstGeom prst="rect"/>
          <a:noFill/>
        </p:spPr>
        <p:txBody>
          <a:bodyPr anchor="t" wrap="square"/>
          <a:p>
            <a:pPr algn="l">
              <a:defRPr b="1" sz="1300">
                <a:solidFill>
                  <a:srgbClr val="0F2B46"/>
                </a:solidFill>
                <a:latin typeface="Calibri"/>
              </a:defRPr>
            </a:pPr>
            <a:r>
              <a:t>Streamlit</a:t>
            </a:r>
          </a:p>
        </p:txBody>
      </p:sp>
      <p:sp>
        <p:nvSpPr>
          <p:cNvPr id="1048782" name="TextBox 37"/>
          <p:cNvSpPr txBox="1"/>
          <p:nvPr/>
        </p:nvSpPr>
        <p:spPr>
          <a:xfrm>
            <a:off x="6510528" y="4544568"/>
            <a:ext cx="2386584" cy="365760"/>
          </a:xfrm>
          <a:prstGeom prst="rect"/>
          <a:noFill/>
        </p:spPr>
        <p:txBody>
          <a:bodyPr anchor="t" wrap="square"/>
          <a:p>
            <a:pPr algn="l">
              <a:defRPr b="0" sz="1000">
                <a:solidFill>
                  <a:srgbClr val="6B7B8D"/>
                </a:solidFill>
                <a:latin typeface="Calibri"/>
              </a:defRPr>
            </a:pPr>
            <a:r>
              <a:t>Web application interface</a:t>
            </a:r>
          </a:p>
        </p:txBody>
      </p:sp>
      <p:sp>
        <p:nvSpPr>
          <p:cNvPr id="1048783" name="Rounded Rectangle 38"/>
          <p:cNvSpPr/>
          <p:nvPr/>
        </p:nvSpPr>
        <p:spPr>
          <a:xfrm>
            <a:off x="9281160" y="1508760"/>
            <a:ext cx="2606040" cy="594360"/>
          </a:xfrm>
          <a:prstGeom prst="roundRect"/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84" name="TextBox 39"/>
          <p:cNvSpPr txBox="1"/>
          <p:nvPr/>
        </p:nvSpPr>
        <p:spPr>
          <a:xfrm>
            <a:off x="9281160" y="1508760"/>
            <a:ext cx="2606040" cy="594360"/>
          </a:xfrm>
          <a:prstGeom prst="rect"/>
          <a:noFill/>
        </p:spPr>
        <p:txBody>
          <a:bodyPr anchor="ctr" wrap="square"/>
          <a:p>
            <a:pPr algn="ctr">
              <a:defRPr b="1" sz="1400">
                <a:solidFill>
                  <a:srgbClr val="FFFFFF"/>
                </a:solidFill>
                <a:latin typeface="Aptos"/>
              </a:defRPr>
            </a:pPr>
            <a:r>
              <a:t>⚙️  Infrastructure</a:t>
            </a:r>
          </a:p>
        </p:txBody>
      </p:sp>
      <p:sp>
        <p:nvSpPr>
          <p:cNvPr id="1048785" name="Rounded Rectangle 40"/>
          <p:cNvSpPr/>
          <p:nvPr/>
        </p:nvSpPr>
        <p:spPr>
          <a:xfrm>
            <a:off x="9281160" y="2240280"/>
            <a:ext cx="2606040" cy="82296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86" name="TextBox 41"/>
          <p:cNvSpPr txBox="1"/>
          <p:nvPr/>
        </p:nvSpPr>
        <p:spPr>
          <a:xfrm>
            <a:off x="9390888" y="2313432"/>
            <a:ext cx="2386584" cy="292608"/>
          </a:xfrm>
          <a:prstGeom prst="rect"/>
          <a:noFill/>
        </p:spPr>
        <p:txBody>
          <a:bodyPr anchor="t" wrap="square"/>
          <a:p>
            <a:pPr algn="l">
              <a:defRPr b="1" sz="1300">
                <a:solidFill>
                  <a:srgbClr val="0F2B46"/>
                </a:solidFill>
                <a:latin typeface="Calibri"/>
              </a:defRPr>
            </a:pPr>
            <a:r>
              <a:t>Python 3.11</a:t>
            </a:r>
          </a:p>
        </p:txBody>
      </p:sp>
      <p:sp>
        <p:nvSpPr>
          <p:cNvPr id="1048787" name="TextBox 42"/>
          <p:cNvSpPr txBox="1"/>
          <p:nvPr/>
        </p:nvSpPr>
        <p:spPr>
          <a:xfrm>
            <a:off x="9390888" y="2624328"/>
            <a:ext cx="2386584" cy="365760"/>
          </a:xfrm>
          <a:prstGeom prst="rect"/>
          <a:noFill/>
        </p:spPr>
        <p:txBody>
          <a:bodyPr anchor="t" wrap="square"/>
          <a:p>
            <a:pPr algn="l">
              <a:defRPr b="0" sz="1000">
                <a:solidFill>
                  <a:srgbClr val="6B7B8D"/>
                </a:solidFill>
                <a:latin typeface="Calibri"/>
              </a:defRPr>
            </a:pPr>
            <a:r>
              <a:t>Runtime environment</a:t>
            </a:r>
          </a:p>
        </p:txBody>
      </p:sp>
      <p:sp>
        <p:nvSpPr>
          <p:cNvPr id="1048788" name="Rounded Rectangle 43"/>
          <p:cNvSpPr/>
          <p:nvPr/>
        </p:nvSpPr>
        <p:spPr>
          <a:xfrm>
            <a:off x="9281160" y="3200400"/>
            <a:ext cx="2606040" cy="82296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89" name="TextBox 44"/>
          <p:cNvSpPr txBox="1"/>
          <p:nvPr/>
        </p:nvSpPr>
        <p:spPr>
          <a:xfrm>
            <a:off x="9390888" y="3273552"/>
            <a:ext cx="2386584" cy="292608"/>
          </a:xfrm>
          <a:prstGeom prst="rect"/>
          <a:noFill/>
        </p:spPr>
        <p:txBody>
          <a:bodyPr anchor="t" wrap="square"/>
          <a:p>
            <a:pPr algn="l">
              <a:defRPr b="1" sz="1300">
                <a:solidFill>
                  <a:srgbClr val="0F2B46"/>
                </a:solidFill>
                <a:latin typeface="Calibri"/>
              </a:defRPr>
            </a:pPr>
            <a:r>
              <a:t>NumPy</a:t>
            </a:r>
          </a:p>
        </p:txBody>
      </p:sp>
      <p:sp>
        <p:nvSpPr>
          <p:cNvPr id="1048790" name="TextBox 45"/>
          <p:cNvSpPr txBox="1"/>
          <p:nvPr/>
        </p:nvSpPr>
        <p:spPr>
          <a:xfrm>
            <a:off x="9390888" y="3584448"/>
            <a:ext cx="2386584" cy="365760"/>
          </a:xfrm>
          <a:prstGeom prst="rect"/>
          <a:noFill/>
        </p:spPr>
        <p:txBody>
          <a:bodyPr anchor="t" wrap="square"/>
          <a:p>
            <a:pPr algn="l">
              <a:defRPr b="0" sz="1000">
                <a:solidFill>
                  <a:srgbClr val="6B7B8D"/>
                </a:solidFill>
                <a:latin typeface="Calibri"/>
              </a:defRPr>
            </a:pPr>
            <a:r>
              <a:t>Numerical operations</a:t>
            </a:r>
          </a:p>
        </p:txBody>
      </p:sp>
      <p:sp>
        <p:nvSpPr>
          <p:cNvPr id="1048791" name="Rounded Rectangle 46"/>
          <p:cNvSpPr/>
          <p:nvPr/>
        </p:nvSpPr>
        <p:spPr>
          <a:xfrm>
            <a:off x="9281160" y="4160520"/>
            <a:ext cx="2606040" cy="82296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92" name="TextBox 47"/>
          <p:cNvSpPr txBox="1"/>
          <p:nvPr/>
        </p:nvSpPr>
        <p:spPr>
          <a:xfrm>
            <a:off x="9390888" y="4233672"/>
            <a:ext cx="2386584" cy="292608"/>
          </a:xfrm>
          <a:prstGeom prst="rect"/>
          <a:noFill/>
        </p:spPr>
        <p:txBody>
          <a:bodyPr anchor="t" wrap="square"/>
          <a:p>
            <a:pPr algn="l">
              <a:defRPr b="1" sz="1300">
                <a:solidFill>
                  <a:srgbClr val="0F2B46"/>
                </a:solidFill>
                <a:latin typeface="Calibri"/>
              </a:defRPr>
            </a:pPr>
            <a:r>
              <a:t>python-dotenv</a:t>
            </a:r>
          </a:p>
        </p:txBody>
      </p:sp>
      <p:sp>
        <p:nvSpPr>
          <p:cNvPr id="1048793" name="TextBox 48"/>
          <p:cNvSpPr txBox="1"/>
          <p:nvPr/>
        </p:nvSpPr>
        <p:spPr>
          <a:xfrm>
            <a:off x="9390888" y="4544568"/>
            <a:ext cx="2386584" cy="365760"/>
          </a:xfrm>
          <a:prstGeom prst="rect"/>
          <a:noFill/>
        </p:spPr>
        <p:txBody>
          <a:bodyPr anchor="t" wrap="square"/>
          <a:p>
            <a:pPr algn="l">
              <a:defRPr b="0" sz="1000">
                <a:solidFill>
                  <a:srgbClr val="6B7B8D"/>
                </a:solidFill>
                <a:latin typeface="Calibri"/>
              </a:defRPr>
            </a:pPr>
            <a:r>
              <a:t>Configuration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/>
      </p:grpSpPr>
      <p:sp>
        <p:nvSpPr>
          <p:cNvPr id="1048797" name="Rectangle 1"/>
          <p:cNvSpPr/>
          <p:nvPr/>
        </p:nvSpPr>
        <p:spPr>
          <a:xfrm>
            <a:off x="0" y="0"/>
            <a:ext cx="12191695" cy="54864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98" name="TextBox 2"/>
          <p:cNvSpPr txBox="1"/>
          <p:nvPr/>
        </p:nvSpPr>
        <p:spPr>
          <a:xfrm>
            <a:off x="640080" y="320040"/>
            <a:ext cx="9144000" cy="548640"/>
          </a:xfrm>
          <a:prstGeom prst="rect"/>
          <a:noFill/>
        </p:spPr>
        <p:txBody>
          <a:bodyPr anchor="t" wrap="square"/>
          <a:p>
            <a:pPr algn="l">
              <a:defRPr b="1" sz="3000">
                <a:solidFill>
                  <a:srgbClr val="0F2B46"/>
                </a:solidFill>
                <a:latin typeface="Aptos"/>
              </a:defRPr>
            </a:pPr>
            <a:r>
              <a:t>Demo Overview</a:t>
            </a:r>
          </a:p>
        </p:txBody>
      </p:sp>
      <p:sp>
        <p:nvSpPr>
          <p:cNvPr id="1048799" name="TextBox 3"/>
          <p:cNvSpPr txBox="1"/>
          <p:nvPr/>
        </p:nvSpPr>
        <p:spPr>
          <a:xfrm>
            <a:off x="640080" y="868680"/>
            <a:ext cx="9144000" cy="320040"/>
          </a:xfrm>
          <a:prstGeom prst="rect"/>
          <a:noFill/>
        </p:spPr>
        <p:txBody>
          <a:bodyPr anchor="t" wrap="square"/>
          <a:p>
            <a:pPr algn="l">
              <a:defRPr b="0" sz="1400">
                <a:solidFill>
                  <a:srgbClr val="6B7B8D"/>
                </a:solidFill>
                <a:latin typeface="Calibri"/>
              </a:defRPr>
            </a:pPr>
            <a:r>
              <a:t>Streamlit-powered clinical document intelligence interface</a:t>
            </a:r>
          </a:p>
        </p:txBody>
      </p:sp>
      <p:sp>
        <p:nvSpPr>
          <p:cNvPr id="1048800" name="Rectangle 4"/>
          <p:cNvSpPr/>
          <p:nvPr/>
        </p:nvSpPr>
        <p:spPr>
          <a:xfrm>
            <a:off x="640080" y="1188720"/>
            <a:ext cx="1645920" cy="32004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1" name="Rounded Rectangle 5"/>
          <p:cNvSpPr/>
          <p:nvPr/>
        </p:nvSpPr>
        <p:spPr>
          <a:xfrm>
            <a:off x="502920" y="1600200"/>
            <a:ext cx="2011680" cy="256032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2" name="Rectangle 6"/>
          <p:cNvSpPr/>
          <p:nvPr/>
        </p:nvSpPr>
        <p:spPr>
          <a:xfrm>
            <a:off x="502920" y="1600200"/>
            <a:ext cx="2011680" cy="54864"/>
          </a:xfrm>
          <a:prstGeom prst="rect"/>
          <a:solidFill>
            <a:srgbClr val="1E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3" name="Oval 7"/>
          <p:cNvSpPr/>
          <p:nvPr/>
        </p:nvSpPr>
        <p:spPr>
          <a:xfrm>
            <a:off x="1234440" y="1783080"/>
            <a:ext cx="457200" cy="457200"/>
          </a:xfrm>
          <a:prstGeom prst="ellipse"/>
          <a:solidFill>
            <a:srgbClr val="1E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4" name="TextBox 8"/>
          <p:cNvSpPr txBox="1"/>
          <p:nvPr/>
        </p:nvSpPr>
        <p:spPr>
          <a:xfrm>
            <a:off x="1234440" y="1783080"/>
            <a:ext cx="457200" cy="457200"/>
          </a:xfrm>
          <a:prstGeom prst="rect"/>
          <a:noFill/>
        </p:spPr>
        <p:txBody>
          <a:bodyPr anchor="ctr" wrap="square"/>
          <a:p>
            <a:pPr algn="ctr">
              <a:defRPr b="1" sz="180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48805" name="TextBox 9"/>
          <p:cNvSpPr txBox="1"/>
          <p:nvPr/>
        </p:nvSpPr>
        <p:spPr>
          <a:xfrm>
            <a:off x="502920" y="2377440"/>
            <a:ext cx="2011680" cy="365760"/>
          </a:xfrm>
          <a:prstGeom prst="rect"/>
          <a:noFill/>
        </p:spPr>
        <p:txBody>
          <a:bodyPr anchor="t" wrap="square"/>
          <a:p>
            <a:pPr algn="ctr">
              <a:defRPr b="0" sz="2600">
                <a:solidFill>
                  <a:srgbClr val="1E5A8C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1048806" name="TextBox 10"/>
          <p:cNvSpPr txBox="1"/>
          <p:nvPr/>
        </p:nvSpPr>
        <p:spPr>
          <a:xfrm>
            <a:off x="594360" y="2788920"/>
            <a:ext cx="1828800" cy="274320"/>
          </a:xfrm>
          <a:prstGeom prst="rect"/>
          <a:noFill/>
        </p:spPr>
        <p:txBody>
          <a:bodyPr anchor="t" wrap="square"/>
          <a:p>
            <a:pPr algn="ctr">
              <a:defRPr b="1" sz="1300">
                <a:solidFill>
                  <a:srgbClr val="0F2B46"/>
                </a:solidFill>
                <a:latin typeface="Calibri"/>
              </a:defRPr>
            </a:pPr>
            <a:r>
              <a:t>Upload PDF</a:t>
            </a:r>
          </a:p>
        </p:txBody>
      </p:sp>
      <p:sp>
        <p:nvSpPr>
          <p:cNvPr id="1048807" name="TextBox 11"/>
          <p:cNvSpPr txBox="1"/>
          <p:nvPr/>
        </p:nvSpPr>
        <p:spPr>
          <a:xfrm>
            <a:off x="594360" y="3154680"/>
            <a:ext cx="1828800" cy="914400"/>
          </a:xfrm>
          <a:prstGeom prst="rect"/>
          <a:noFill/>
        </p:spPr>
        <p:txBody>
          <a:bodyPr anchor="t" wrap="square"/>
          <a:p>
            <a:pPr algn="ctr">
              <a:defRPr b="0" sz="1000">
                <a:solidFill>
                  <a:srgbClr val="6B7B8D"/>
                </a:solidFill>
                <a:latin typeface="Calibri"/>
              </a:defRPr>
            </a:pPr>
            <a:r>
              <a:t>Upload any medical PDF</a:t>
            </a:r>
            <a:br/>
            <a:r>
              <a:t>through the sidebar</a:t>
            </a:r>
            <a:br/>
            <a:r>
              <a:t>file uploader.</a:t>
            </a:r>
          </a:p>
        </p:txBody>
      </p:sp>
      <p:sp>
        <p:nvSpPr>
          <p:cNvPr id="1048808" name="Right Arrow 12"/>
          <p:cNvSpPr/>
          <p:nvPr/>
        </p:nvSpPr>
        <p:spPr>
          <a:xfrm>
            <a:off x="2532888" y="2880360"/>
            <a:ext cx="201168" cy="164592"/>
          </a:xfrm>
          <a:prstGeom prst="rightArrow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9" name="Rounded Rectangle 13"/>
          <p:cNvSpPr/>
          <p:nvPr/>
        </p:nvSpPr>
        <p:spPr>
          <a:xfrm>
            <a:off x="2743200" y="1600200"/>
            <a:ext cx="2011680" cy="256032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0" name="Rectangle 14"/>
          <p:cNvSpPr/>
          <p:nvPr/>
        </p:nvSpPr>
        <p:spPr>
          <a:xfrm>
            <a:off x="2743200" y="1600200"/>
            <a:ext cx="2011680" cy="54864"/>
          </a:xfrm>
          <a:prstGeom prst="rect"/>
          <a:solidFill>
            <a:srgbClr val="1E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1" name="Oval 15"/>
          <p:cNvSpPr/>
          <p:nvPr/>
        </p:nvSpPr>
        <p:spPr>
          <a:xfrm>
            <a:off x="3474720" y="1783080"/>
            <a:ext cx="457200" cy="457200"/>
          </a:xfrm>
          <a:prstGeom prst="ellipse"/>
          <a:solidFill>
            <a:srgbClr val="1E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2" name="TextBox 16"/>
          <p:cNvSpPr txBox="1"/>
          <p:nvPr/>
        </p:nvSpPr>
        <p:spPr>
          <a:xfrm>
            <a:off x="3474720" y="1783080"/>
            <a:ext cx="457200" cy="457200"/>
          </a:xfrm>
          <a:prstGeom prst="rect"/>
          <a:noFill/>
        </p:spPr>
        <p:txBody>
          <a:bodyPr anchor="ctr" wrap="square"/>
          <a:p>
            <a:pPr algn="ctr">
              <a:defRPr b="1" sz="180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48813" name="TextBox 17"/>
          <p:cNvSpPr txBox="1"/>
          <p:nvPr/>
        </p:nvSpPr>
        <p:spPr>
          <a:xfrm>
            <a:off x="2743200" y="2377440"/>
            <a:ext cx="2011680" cy="365760"/>
          </a:xfrm>
          <a:prstGeom prst="rect"/>
          <a:noFill/>
        </p:spPr>
        <p:txBody>
          <a:bodyPr anchor="t" wrap="square"/>
          <a:p>
            <a:pPr algn="ctr">
              <a:defRPr b="0" sz="2600">
                <a:solidFill>
                  <a:srgbClr val="1E6E9E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048814" name="TextBox 18"/>
          <p:cNvSpPr txBox="1"/>
          <p:nvPr/>
        </p:nvSpPr>
        <p:spPr>
          <a:xfrm>
            <a:off x="2834640" y="2788920"/>
            <a:ext cx="1828800" cy="274320"/>
          </a:xfrm>
          <a:prstGeom prst="rect"/>
          <a:noFill/>
        </p:spPr>
        <p:txBody>
          <a:bodyPr anchor="t" wrap="square"/>
          <a:p>
            <a:pPr algn="ctr">
              <a:defRPr b="1" sz="1300">
                <a:solidFill>
                  <a:srgbClr val="0F2B46"/>
                </a:solidFill>
                <a:latin typeface="Calibri"/>
              </a:defRPr>
            </a:pPr>
            <a:r>
              <a:t>Process Document</a:t>
            </a:r>
          </a:p>
        </p:txBody>
      </p:sp>
      <p:sp>
        <p:nvSpPr>
          <p:cNvPr id="1048815" name="TextBox 19"/>
          <p:cNvSpPr txBox="1"/>
          <p:nvPr/>
        </p:nvSpPr>
        <p:spPr>
          <a:xfrm>
            <a:off x="2834640" y="3154680"/>
            <a:ext cx="1828800" cy="914400"/>
          </a:xfrm>
          <a:prstGeom prst="rect"/>
          <a:noFill/>
        </p:spPr>
        <p:txBody>
          <a:bodyPr anchor="t" wrap="square"/>
          <a:p>
            <a:pPr algn="ctr">
              <a:defRPr b="0" sz="1000">
                <a:solidFill>
                  <a:srgbClr val="6B7B8D"/>
                </a:solidFill>
                <a:latin typeface="Calibri"/>
              </a:defRPr>
            </a:pPr>
            <a:r>
              <a:t>System ingests, cleans,</a:t>
            </a:r>
            <a:br/>
            <a:r>
              <a:t>chunks, and builds</a:t>
            </a:r>
            <a:br/>
            <a:r>
              <a:t>dual FAISS + BM25 index.</a:t>
            </a:r>
          </a:p>
        </p:txBody>
      </p:sp>
      <p:sp>
        <p:nvSpPr>
          <p:cNvPr id="1048816" name="Right Arrow 20"/>
          <p:cNvSpPr/>
          <p:nvPr/>
        </p:nvSpPr>
        <p:spPr>
          <a:xfrm>
            <a:off x="4773168" y="2880360"/>
            <a:ext cx="201168" cy="164592"/>
          </a:xfrm>
          <a:prstGeom prst="rightArrow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7" name="Rounded Rectangle 21"/>
          <p:cNvSpPr/>
          <p:nvPr/>
        </p:nvSpPr>
        <p:spPr>
          <a:xfrm>
            <a:off x="4983480" y="1600200"/>
            <a:ext cx="2011680" cy="256032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8" name="Rectangle 22"/>
          <p:cNvSpPr/>
          <p:nvPr/>
        </p:nvSpPr>
        <p:spPr>
          <a:xfrm>
            <a:off x="4983480" y="1600200"/>
            <a:ext cx="2011680" cy="54864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9" name="Oval 23"/>
          <p:cNvSpPr/>
          <p:nvPr/>
        </p:nvSpPr>
        <p:spPr>
          <a:xfrm>
            <a:off x="5715000" y="1783080"/>
            <a:ext cx="457200" cy="457200"/>
          </a:xfrm>
          <a:prstGeom prst="ellipse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0" name="TextBox 24"/>
          <p:cNvSpPr txBox="1"/>
          <p:nvPr/>
        </p:nvSpPr>
        <p:spPr>
          <a:xfrm>
            <a:off x="5715000" y="1783080"/>
            <a:ext cx="457200" cy="457200"/>
          </a:xfrm>
          <a:prstGeom prst="rect"/>
          <a:noFill/>
        </p:spPr>
        <p:txBody>
          <a:bodyPr anchor="ctr" wrap="square"/>
          <a:p>
            <a:pPr algn="ctr">
              <a:defRPr b="1" sz="180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48821" name="TextBox 25"/>
          <p:cNvSpPr txBox="1"/>
          <p:nvPr/>
        </p:nvSpPr>
        <p:spPr>
          <a:xfrm>
            <a:off x="4983480" y="2377440"/>
            <a:ext cx="2011680" cy="365760"/>
          </a:xfrm>
          <a:prstGeom prst="rect"/>
          <a:noFill/>
        </p:spPr>
        <p:txBody>
          <a:bodyPr anchor="t" wrap="square"/>
          <a:p>
            <a:pPr algn="ctr">
              <a:defRPr b="0" sz="2600">
                <a:solidFill>
                  <a:srgbClr val="2B8EC4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1048822" name="TextBox 26"/>
          <p:cNvSpPr txBox="1"/>
          <p:nvPr/>
        </p:nvSpPr>
        <p:spPr>
          <a:xfrm>
            <a:off x="5074920" y="2788920"/>
            <a:ext cx="1828800" cy="274320"/>
          </a:xfrm>
          <a:prstGeom prst="rect"/>
          <a:noFill/>
        </p:spPr>
        <p:txBody>
          <a:bodyPr anchor="t" wrap="square"/>
          <a:p>
            <a:pPr algn="ctr">
              <a:defRPr b="1" sz="1300">
                <a:solidFill>
                  <a:srgbClr val="0F2B46"/>
                </a:solidFill>
                <a:latin typeface="Calibri"/>
              </a:defRPr>
            </a:pPr>
            <a:r>
              <a:t>Ask Questions</a:t>
            </a:r>
          </a:p>
        </p:txBody>
      </p:sp>
      <p:sp>
        <p:nvSpPr>
          <p:cNvPr id="1048823" name="TextBox 27"/>
          <p:cNvSpPr txBox="1"/>
          <p:nvPr/>
        </p:nvSpPr>
        <p:spPr>
          <a:xfrm>
            <a:off x="5074920" y="3154680"/>
            <a:ext cx="1828800" cy="914400"/>
          </a:xfrm>
          <a:prstGeom prst="rect"/>
          <a:noFill/>
        </p:spPr>
        <p:txBody>
          <a:bodyPr anchor="t" wrap="square"/>
          <a:p>
            <a:pPr algn="ctr">
              <a:defRPr b="0" sz="1000">
                <a:solidFill>
                  <a:srgbClr val="6B7B8D"/>
                </a:solidFill>
                <a:latin typeface="Calibri"/>
              </a:defRPr>
            </a:pPr>
            <a:r>
              <a:t>Type clinical questions.</a:t>
            </a:r>
            <a:br/>
            <a:r>
              <a:t>Hybrid retrieval finds</a:t>
            </a:r>
            <a:br/>
            <a:r>
              <a:t>the most relevant passages.</a:t>
            </a:r>
          </a:p>
        </p:txBody>
      </p:sp>
      <p:sp>
        <p:nvSpPr>
          <p:cNvPr id="1048824" name="Right Arrow 28"/>
          <p:cNvSpPr/>
          <p:nvPr/>
        </p:nvSpPr>
        <p:spPr>
          <a:xfrm>
            <a:off x="7013448" y="2880360"/>
            <a:ext cx="201168" cy="164592"/>
          </a:xfrm>
          <a:prstGeom prst="rightArrow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5" name="Rounded Rectangle 29"/>
          <p:cNvSpPr/>
          <p:nvPr/>
        </p:nvSpPr>
        <p:spPr>
          <a:xfrm>
            <a:off x="7223760" y="1600200"/>
            <a:ext cx="2011680" cy="256032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6" name="Rectangle 30"/>
          <p:cNvSpPr/>
          <p:nvPr/>
        </p:nvSpPr>
        <p:spPr>
          <a:xfrm>
            <a:off x="7223760" y="1600200"/>
            <a:ext cx="2011680" cy="54864"/>
          </a:xfrm>
          <a:prstGeom prst="rect"/>
          <a:solidFill>
            <a:srgbClr val="00A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7" name="Oval 31"/>
          <p:cNvSpPr/>
          <p:nvPr/>
        </p:nvSpPr>
        <p:spPr>
          <a:xfrm>
            <a:off x="7955280" y="1783080"/>
            <a:ext cx="457200" cy="457200"/>
          </a:xfrm>
          <a:prstGeom prst="ellipse"/>
          <a:solidFill>
            <a:srgbClr val="00A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8" name="TextBox 32"/>
          <p:cNvSpPr txBox="1"/>
          <p:nvPr/>
        </p:nvSpPr>
        <p:spPr>
          <a:xfrm>
            <a:off x="7955280" y="1783080"/>
            <a:ext cx="457200" cy="457200"/>
          </a:xfrm>
          <a:prstGeom prst="rect"/>
          <a:noFill/>
        </p:spPr>
        <p:txBody>
          <a:bodyPr anchor="ctr" wrap="square"/>
          <a:p>
            <a:pPr algn="ctr">
              <a:defRPr b="1" sz="180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048829" name="TextBox 33"/>
          <p:cNvSpPr txBox="1"/>
          <p:nvPr/>
        </p:nvSpPr>
        <p:spPr>
          <a:xfrm>
            <a:off x="7223760" y="2377440"/>
            <a:ext cx="2011680" cy="365760"/>
          </a:xfrm>
          <a:prstGeom prst="rect"/>
          <a:noFill/>
        </p:spPr>
        <p:txBody>
          <a:bodyPr anchor="t" wrap="square"/>
          <a:p>
            <a:pPr algn="ctr">
              <a:defRPr b="0" sz="2600">
                <a:solidFill>
                  <a:srgbClr val="00A37D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048830" name="TextBox 34"/>
          <p:cNvSpPr txBox="1"/>
          <p:nvPr/>
        </p:nvSpPr>
        <p:spPr>
          <a:xfrm>
            <a:off x="7315200" y="2788920"/>
            <a:ext cx="1828800" cy="274320"/>
          </a:xfrm>
          <a:prstGeom prst="rect"/>
          <a:noFill/>
        </p:spPr>
        <p:txBody>
          <a:bodyPr anchor="t" wrap="square"/>
          <a:p>
            <a:pPr algn="ctr">
              <a:defRPr b="1" sz="1300">
                <a:solidFill>
                  <a:srgbClr val="0F2B46"/>
                </a:solidFill>
                <a:latin typeface="Calibri"/>
              </a:defRPr>
            </a:pPr>
            <a:r>
              <a:t>Get Cited Answers</a:t>
            </a:r>
          </a:p>
        </p:txBody>
      </p:sp>
      <p:sp>
        <p:nvSpPr>
          <p:cNvPr id="1048831" name="TextBox 35"/>
          <p:cNvSpPr txBox="1"/>
          <p:nvPr/>
        </p:nvSpPr>
        <p:spPr>
          <a:xfrm>
            <a:off x="7315200" y="3154680"/>
            <a:ext cx="1828800" cy="914400"/>
          </a:xfrm>
          <a:prstGeom prst="rect"/>
          <a:noFill/>
        </p:spPr>
        <p:txBody>
          <a:bodyPr anchor="t" wrap="square"/>
          <a:p>
            <a:pPr algn="ctr">
              <a:defRPr b="0" sz="1000">
                <a:solidFill>
                  <a:srgbClr val="6B7B8D"/>
                </a:solidFill>
                <a:latin typeface="Calibri"/>
              </a:defRPr>
            </a:pPr>
            <a:r>
              <a:t>LLM generates grounded</a:t>
            </a:r>
            <a:br/>
            <a:r>
              <a:t>answers with page-level</a:t>
            </a:r>
            <a:br/>
            <a:r>
              <a:t>source citations.</a:t>
            </a:r>
          </a:p>
        </p:txBody>
      </p:sp>
      <p:sp>
        <p:nvSpPr>
          <p:cNvPr id="1048832" name="Right Arrow 36"/>
          <p:cNvSpPr/>
          <p:nvPr/>
        </p:nvSpPr>
        <p:spPr>
          <a:xfrm>
            <a:off x="9253728" y="2880360"/>
            <a:ext cx="201168" cy="164592"/>
          </a:xfrm>
          <a:prstGeom prst="rightArrow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33" name="Rounded Rectangle 37"/>
          <p:cNvSpPr/>
          <p:nvPr/>
        </p:nvSpPr>
        <p:spPr>
          <a:xfrm>
            <a:off x="9464040" y="1600200"/>
            <a:ext cx="2011680" cy="256032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34" name="Rectangle 38"/>
          <p:cNvSpPr/>
          <p:nvPr/>
        </p:nvSpPr>
        <p:spPr>
          <a:xfrm>
            <a:off x="9464040" y="1600200"/>
            <a:ext cx="2011680" cy="54864"/>
          </a:xfrm>
          <a:prstGeom prst="rect"/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35" name="Oval 39"/>
          <p:cNvSpPr/>
          <p:nvPr/>
        </p:nvSpPr>
        <p:spPr>
          <a:xfrm>
            <a:off x="10195560" y="1783080"/>
            <a:ext cx="457200" cy="457200"/>
          </a:xfrm>
          <a:prstGeom prst="ellipse"/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36" name="TextBox 40"/>
          <p:cNvSpPr txBox="1"/>
          <p:nvPr/>
        </p:nvSpPr>
        <p:spPr>
          <a:xfrm>
            <a:off x="10195560" y="1783080"/>
            <a:ext cx="457200" cy="457200"/>
          </a:xfrm>
          <a:prstGeom prst="rect"/>
          <a:noFill/>
        </p:spPr>
        <p:txBody>
          <a:bodyPr anchor="ctr" wrap="square"/>
          <a:p>
            <a:pPr algn="ctr">
              <a:defRPr b="1" sz="180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048837" name="TextBox 41"/>
          <p:cNvSpPr txBox="1"/>
          <p:nvPr/>
        </p:nvSpPr>
        <p:spPr>
          <a:xfrm>
            <a:off x="9464040" y="2377440"/>
            <a:ext cx="2011680" cy="365760"/>
          </a:xfrm>
          <a:prstGeom prst="rect"/>
          <a:noFill/>
        </p:spPr>
        <p:txBody>
          <a:bodyPr anchor="t" wrap="square"/>
          <a:p>
            <a:pPr algn="ctr">
              <a:defRPr b="0" sz="2600">
                <a:solidFill>
                  <a:srgbClr val="7E57C2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048838" name="TextBox 42"/>
          <p:cNvSpPr txBox="1"/>
          <p:nvPr/>
        </p:nvSpPr>
        <p:spPr>
          <a:xfrm>
            <a:off x="9555480" y="2788920"/>
            <a:ext cx="1828800" cy="274320"/>
          </a:xfrm>
          <a:prstGeom prst="rect"/>
          <a:noFill/>
        </p:spPr>
        <p:txBody>
          <a:bodyPr anchor="t" wrap="square"/>
          <a:p>
            <a:pPr algn="ctr">
              <a:defRPr b="1" sz="1300">
                <a:solidFill>
                  <a:srgbClr val="0F2B46"/>
                </a:solidFill>
                <a:latin typeface="Calibri"/>
              </a:defRPr>
            </a:pPr>
            <a:r>
              <a:t>Generate Summary</a:t>
            </a:r>
          </a:p>
        </p:txBody>
      </p:sp>
      <p:sp>
        <p:nvSpPr>
          <p:cNvPr id="1048839" name="TextBox 43"/>
          <p:cNvSpPr txBox="1"/>
          <p:nvPr/>
        </p:nvSpPr>
        <p:spPr>
          <a:xfrm>
            <a:off x="9555480" y="3154680"/>
            <a:ext cx="1828800" cy="914400"/>
          </a:xfrm>
          <a:prstGeom prst="rect"/>
          <a:noFill/>
        </p:spPr>
        <p:txBody>
          <a:bodyPr anchor="t" wrap="square"/>
          <a:p>
            <a:pPr algn="ctr">
              <a:defRPr b="0" sz="1000">
                <a:solidFill>
                  <a:srgbClr val="6B7B8D"/>
                </a:solidFill>
                <a:latin typeface="Calibri"/>
              </a:defRPr>
            </a:pPr>
            <a:r>
              <a:t>One-click structured</a:t>
            </a:r>
            <a:br/>
            <a:r>
              <a:t>medical document</a:t>
            </a:r>
            <a:br/>
            <a:r>
              <a:t>summarization.</a:t>
            </a:r>
          </a:p>
        </p:txBody>
      </p:sp>
      <p:sp>
        <p:nvSpPr>
          <p:cNvPr id="1048840" name="TextBox 44"/>
          <p:cNvSpPr txBox="1"/>
          <p:nvPr/>
        </p:nvSpPr>
        <p:spPr>
          <a:xfrm>
            <a:off x="640080" y="4434840"/>
            <a:ext cx="2743200" cy="274320"/>
          </a:xfrm>
          <a:prstGeom prst="rect"/>
          <a:noFill/>
        </p:spPr>
        <p:txBody>
          <a:bodyPr anchor="t" wrap="square"/>
          <a:p>
            <a:pPr algn="l">
              <a:defRPr b="0" sz="1100">
                <a:solidFill>
                  <a:srgbClr val="6B7B8D"/>
                </a:solidFill>
                <a:latin typeface="Segoe UI"/>
              </a:defRPr>
            </a:pPr>
            <a:r>
              <a:t>🟢 Streaming typing animation</a:t>
            </a:r>
          </a:p>
        </p:txBody>
      </p:sp>
      <p:sp>
        <p:nvSpPr>
          <p:cNvPr id="1048841" name="TextBox 45"/>
          <p:cNvSpPr txBox="1"/>
          <p:nvPr/>
        </p:nvSpPr>
        <p:spPr>
          <a:xfrm>
            <a:off x="3474720" y="4434840"/>
            <a:ext cx="2743200" cy="274320"/>
          </a:xfrm>
          <a:prstGeom prst="rect"/>
          <a:noFill/>
        </p:spPr>
        <p:txBody>
          <a:bodyPr anchor="t" wrap="square"/>
          <a:p>
            <a:pPr algn="l">
              <a:defRPr b="0" sz="1100">
                <a:solidFill>
                  <a:srgbClr val="6B7B8D"/>
                </a:solidFill>
                <a:latin typeface="Segoe UI"/>
              </a:defRPr>
            </a:pPr>
            <a:r>
              <a:t>🟢 Conversation history &amp; export</a:t>
            </a:r>
          </a:p>
        </p:txBody>
      </p:sp>
      <p:sp>
        <p:nvSpPr>
          <p:cNvPr id="1048842" name="TextBox 46"/>
          <p:cNvSpPr txBox="1"/>
          <p:nvPr/>
        </p:nvSpPr>
        <p:spPr>
          <a:xfrm>
            <a:off x="6309360" y="4434840"/>
            <a:ext cx="2743200" cy="274320"/>
          </a:xfrm>
          <a:prstGeom prst="rect"/>
          <a:noFill/>
        </p:spPr>
        <p:txBody>
          <a:bodyPr anchor="t" wrap="square"/>
          <a:p>
            <a:pPr algn="l">
              <a:defRPr b="0" sz="1100">
                <a:solidFill>
                  <a:srgbClr val="6B7B8D"/>
                </a:solidFill>
                <a:latin typeface="Segoe UI"/>
              </a:defRPr>
            </a:pPr>
            <a:r>
              <a:t>🟢 Show/hide source toggle</a:t>
            </a:r>
          </a:p>
        </p:txBody>
      </p:sp>
      <p:sp>
        <p:nvSpPr>
          <p:cNvPr id="1048843" name="TextBox 47"/>
          <p:cNvSpPr txBox="1"/>
          <p:nvPr/>
        </p:nvSpPr>
        <p:spPr>
          <a:xfrm>
            <a:off x="9144000" y="4434840"/>
            <a:ext cx="2743200" cy="274320"/>
          </a:xfrm>
          <a:prstGeom prst="rect"/>
          <a:noFill/>
        </p:spPr>
        <p:txBody>
          <a:bodyPr anchor="t" wrap="square"/>
          <a:p>
            <a:pPr algn="l">
              <a:defRPr b="0" sz="1100">
                <a:solidFill>
                  <a:srgbClr val="6B7B8D"/>
                </a:solidFill>
                <a:latin typeface="Segoe UI"/>
              </a:defRPr>
            </a:pPr>
            <a:r>
              <a:t>🟢 Real-time system status</a:t>
            </a:r>
          </a:p>
        </p:txBody>
      </p:sp>
      <p:sp>
        <p:nvSpPr>
          <p:cNvPr id="1048844" name="Rectangle 48"/>
          <p:cNvSpPr/>
          <p:nvPr/>
        </p:nvSpPr>
        <p:spPr>
          <a:xfrm>
            <a:off x="640080" y="5029200"/>
            <a:ext cx="10881360" cy="457200"/>
          </a:xfrm>
          <a:prstGeom prst="rect"/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45" name="TextBox 49"/>
          <p:cNvSpPr txBox="1"/>
          <p:nvPr/>
        </p:nvSpPr>
        <p:spPr>
          <a:xfrm>
            <a:off x="914400" y="5029200"/>
            <a:ext cx="10424160" cy="457200"/>
          </a:xfrm>
          <a:prstGeom prst="rect"/>
          <a:noFill/>
        </p:spPr>
        <p:txBody>
          <a:bodyPr anchor="ctr" wrap="square"/>
          <a:p>
            <a:pPr algn="l">
              <a:defRPr b="0" sz="1200">
                <a:solidFill>
                  <a:srgbClr val="FFFFFF"/>
                </a:solidFill>
                <a:latin typeface="Calibri"/>
              </a:defRPr>
            </a:pPr>
            <a:r>
              <a:t>🖥️  Interface: Streamlit v1.49  •  Dark purple theme  •  Wide layout  •  Professional healthcare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/>
      </p:grpSpPr>
      <p:sp>
        <p:nvSpPr>
          <p:cNvPr id="1048849" name="Rectangle 1"/>
          <p:cNvSpPr/>
          <p:nvPr/>
        </p:nvSpPr>
        <p:spPr>
          <a:xfrm>
            <a:off x="0" y="0"/>
            <a:ext cx="12191695" cy="54864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50" name="TextBox 2"/>
          <p:cNvSpPr txBox="1"/>
          <p:nvPr/>
        </p:nvSpPr>
        <p:spPr>
          <a:xfrm>
            <a:off x="640080" y="320040"/>
            <a:ext cx="9144000" cy="548640"/>
          </a:xfrm>
          <a:prstGeom prst="rect"/>
          <a:noFill/>
        </p:spPr>
        <p:txBody>
          <a:bodyPr anchor="t" wrap="square"/>
          <a:p>
            <a:pPr algn="l">
              <a:defRPr b="1" sz="3000">
                <a:solidFill>
                  <a:srgbClr val="0F2B46"/>
                </a:solidFill>
                <a:latin typeface="Aptos"/>
              </a:defRPr>
            </a:pPr>
            <a:r>
              <a:t>Business Value for Cotiviti</a:t>
            </a:r>
          </a:p>
        </p:txBody>
      </p:sp>
      <p:sp>
        <p:nvSpPr>
          <p:cNvPr id="1048851" name="TextBox 3"/>
          <p:cNvSpPr txBox="1"/>
          <p:nvPr/>
        </p:nvSpPr>
        <p:spPr>
          <a:xfrm>
            <a:off x="640080" y="868680"/>
            <a:ext cx="9144000" cy="320040"/>
          </a:xfrm>
          <a:prstGeom prst="rect"/>
          <a:noFill/>
        </p:spPr>
        <p:txBody>
          <a:bodyPr anchor="t" wrap="square"/>
          <a:p>
            <a:pPr algn="l">
              <a:defRPr b="0" sz="1400">
                <a:solidFill>
                  <a:srgbClr val="6B7B8D"/>
                </a:solidFill>
                <a:latin typeface="Calibri"/>
              </a:defRPr>
            </a:pPr>
            <a:r>
              <a:t>One architecture, multiple healthcare workflows</a:t>
            </a:r>
          </a:p>
        </p:txBody>
      </p:sp>
      <p:sp>
        <p:nvSpPr>
          <p:cNvPr id="1048852" name="Rectangle 4"/>
          <p:cNvSpPr/>
          <p:nvPr/>
        </p:nvSpPr>
        <p:spPr>
          <a:xfrm>
            <a:off x="640080" y="1188720"/>
            <a:ext cx="1645920" cy="32004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53" name="Rounded Rectangle 5"/>
          <p:cNvSpPr/>
          <p:nvPr/>
        </p:nvSpPr>
        <p:spPr>
          <a:xfrm>
            <a:off x="640080" y="1508760"/>
            <a:ext cx="3429000" cy="150876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54" name="Rectangle 6"/>
          <p:cNvSpPr/>
          <p:nvPr/>
        </p:nvSpPr>
        <p:spPr>
          <a:xfrm>
            <a:off x="640080" y="1508760"/>
            <a:ext cx="54864" cy="1508760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55" name="TextBox 7"/>
          <p:cNvSpPr txBox="1"/>
          <p:nvPr/>
        </p:nvSpPr>
        <p:spPr>
          <a:xfrm>
            <a:off x="822960" y="1618488"/>
            <a:ext cx="365760" cy="320040"/>
          </a:xfrm>
          <a:prstGeom prst="rect"/>
          <a:noFill/>
        </p:spPr>
        <p:txBody>
          <a:bodyPr anchor="t" wrap="square"/>
          <a:p>
            <a:pPr algn="l">
              <a:defRPr b="0" sz="2200">
                <a:solidFill>
                  <a:srgbClr val="2B8EC4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048856" name="TextBox 8"/>
          <p:cNvSpPr txBox="1"/>
          <p:nvPr/>
        </p:nvSpPr>
        <p:spPr>
          <a:xfrm>
            <a:off x="1188720" y="1618488"/>
            <a:ext cx="2743200" cy="274320"/>
          </a:xfrm>
          <a:prstGeom prst="rect"/>
          <a:noFill/>
        </p:spPr>
        <p:txBody>
          <a:bodyPr anchor="t" wrap="square"/>
          <a:p>
            <a:pPr algn="l">
              <a:defRPr b="1" sz="1400">
                <a:solidFill>
                  <a:srgbClr val="0F2B46"/>
                </a:solidFill>
                <a:latin typeface="Aptos"/>
              </a:defRPr>
            </a:pPr>
            <a:r>
              <a:t>Payment Integrity</a:t>
            </a:r>
          </a:p>
        </p:txBody>
      </p:sp>
      <p:sp>
        <p:nvSpPr>
          <p:cNvPr id="1048857" name="TextBox 9"/>
          <p:cNvSpPr txBox="1"/>
          <p:nvPr/>
        </p:nvSpPr>
        <p:spPr>
          <a:xfrm>
            <a:off x="1188720" y="1947672"/>
            <a:ext cx="2743200" cy="1005840"/>
          </a:xfrm>
          <a:prstGeom prst="rect"/>
          <a:noFill/>
        </p:spPr>
        <p:txBody>
          <a:bodyPr anchor="t" wrap="square"/>
          <a:p>
            <a:pPr algn="l">
              <a:defRPr b="0" sz="1100">
                <a:solidFill>
                  <a:srgbClr val="6B7B8D"/>
                </a:solidFill>
                <a:latin typeface="Calibri"/>
              </a:defRPr>
            </a:pPr>
            <a:r>
              <a:t>Cross-reference billing codes against</a:t>
            </a:r>
            <a:br/>
            <a:r>
              <a:t>clinical evidence in the record.</a:t>
            </a:r>
            <a:br/>
            <a:r>
              <a:t>Flag discrepancies for auditor review.</a:t>
            </a:r>
          </a:p>
        </p:txBody>
      </p:sp>
      <p:sp>
        <p:nvSpPr>
          <p:cNvPr id="1048858" name="Rounded Rectangle 10"/>
          <p:cNvSpPr/>
          <p:nvPr/>
        </p:nvSpPr>
        <p:spPr>
          <a:xfrm>
            <a:off x="4389120" y="1508760"/>
            <a:ext cx="3429000" cy="150876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59" name="Rectangle 11"/>
          <p:cNvSpPr/>
          <p:nvPr/>
        </p:nvSpPr>
        <p:spPr>
          <a:xfrm>
            <a:off x="4389120" y="1508760"/>
            <a:ext cx="54864" cy="1508760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60" name="TextBox 12"/>
          <p:cNvSpPr txBox="1"/>
          <p:nvPr/>
        </p:nvSpPr>
        <p:spPr>
          <a:xfrm>
            <a:off x="4572000" y="1618488"/>
            <a:ext cx="365760" cy="320040"/>
          </a:xfrm>
          <a:prstGeom prst="rect"/>
          <a:noFill/>
        </p:spPr>
        <p:txBody>
          <a:bodyPr anchor="t" wrap="square"/>
          <a:p>
            <a:pPr algn="l">
              <a:defRPr b="0" sz="2200">
                <a:solidFill>
                  <a:srgbClr val="2B8EC4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048861" name="TextBox 13"/>
          <p:cNvSpPr txBox="1"/>
          <p:nvPr/>
        </p:nvSpPr>
        <p:spPr>
          <a:xfrm>
            <a:off x="4937760" y="1618488"/>
            <a:ext cx="2743200" cy="274320"/>
          </a:xfrm>
          <a:prstGeom prst="rect"/>
          <a:noFill/>
        </p:spPr>
        <p:txBody>
          <a:bodyPr anchor="t" wrap="square"/>
          <a:p>
            <a:pPr algn="l">
              <a:defRPr b="1" sz="1400">
                <a:solidFill>
                  <a:srgbClr val="0F2B46"/>
                </a:solidFill>
                <a:latin typeface="Aptos"/>
              </a:defRPr>
            </a:pPr>
            <a:r>
              <a:t>Claims Review</a:t>
            </a:r>
          </a:p>
        </p:txBody>
      </p:sp>
      <p:sp>
        <p:nvSpPr>
          <p:cNvPr id="1048862" name="TextBox 14"/>
          <p:cNvSpPr txBox="1"/>
          <p:nvPr/>
        </p:nvSpPr>
        <p:spPr>
          <a:xfrm>
            <a:off x="4937760" y="1947672"/>
            <a:ext cx="2743200" cy="1005840"/>
          </a:xfrm>
          <a:prstGeom prst="rect"/>
          <a:noFill/>
        </p:spPr>
        <p:txBody>
          <a:bodyPr anchor="t" wrap="square"/>
          <a:p>
            <a:pPr algn="l">
              <a:defRPr b="0" sz="1100">
                <a:solidFill>
                  <a:srgbClr val="6B7B8D"/>
                </a:solidFill>
                <a:latin typeface="Calibri"/>
              </a:defRPr>
            </a:pPr>
            <a:r>
              <a:t>Retrieve relevant clinical passages</a:t>
            </a:r>
            <a:br/>
            <a:r>
              <a:t>instantly instead of manual</a:t>
            </a:r>
            <a:br/>
            <a:r>
              <a:t>page-by-page chart review.</a:t>
            </a:r>
          </a:p>
        </p:txBody>
      </p:sp>
      <p:sp>
        <p:nvSpPr>
          <p:cNvPr id="1048863" name="Rounded Rectangle 15"/>
          <p:cNvSpPr/>
          <p:nvPr/>
        </p:nvSpPr>
        <p:spPr>
          <a:xfrm>
            <a:off x="8138160" y="1508760"/>
            <a:ext cx="3429000" cy="150876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64" name="Rectangle 16"/>
          <p:cNvSpPr/>
          <p:nvPr/>
        </p:nvSpPr>
        <p:spPr>
          <a:xfrm>
            <a:off x="8138160" y="1508760"/>
            <a:ext cx="54864" cy="1508760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65" name="TextBox 17"/>
          <p:cNvSpPr txBox="1"/>
          <p:nvPr/>
        </p:nvSpPr>
        <p:spPr>
          <a:xfrm>
            <a:off x="8321040" y="1618488"/>
            <a:ext cx="365760" cy="320040"/>
          </a:xfrm>
          <a:prstGeom prst="rect"/>
          <a:noFill/>
        </p:spPr>
        <p:txBody>
          <a:bodyPr anchor="t" wrap="square"/>
          <a:p>
            <a:pPr algn="l">
              <a:defRPr b="0" sz="2200">
                <a:solidFill>
                  <a:srgbClr val="2B8EC4"/>
                </a:solidFill>
                <a:latin typeface="Calibri"/>
              </a:defRPr>
            </a:pPr>
            <a:r>
              <a:t>📑</a:t>
            </a:r>
          </a:p>
        </p:txBody>
      </p:sp>
      <p:sp>
        <p:nvSpPr>
          <p:cNvPr id="1048866" name="TextBox 18"/>
          <p:cNvSpPr txBox="1"/>
          <p:nvPr/>
        </p:nvSpPr>
        <p:spPr>
          <a:xfrm>
            <a:off x="8686800" y="1618488"/>
            <a:ext cx="2743200" cy="274320"/>
          </a:xfrm>
          <a:prstGeom prst="rect"/>
          <a:noFill/>
        </p:spPr>
        <p:txBody>
          <a:bodyPr anchor="t" wrap="square"/>
          <a:p>
            <a:pPr algn="l">
              <a:defRPr b="1" sz="1400">
                <a:solidFill>
                  <a:srgbClr val="0F2B46"/>
                </a:solidFill>
                <a:latin typeface="Aptos"/>
              </a:defRPr>
            </a:pPr>
            <a:r>
              <a:t>Clinical Documentation Review</a:t>
            </a:r>
          </a:p>
        </p:txBody>
      </p:sp>
      <p:sp>
        <p:nvSpPr>
          <p:cNvPr id="1048867" name="TextBox 19"/>
          <p:cNvSpPr txBox="1"/>
          <p:nvPr/>
        </p:nvSpPr>
        <p:spPr>
          <a:xfrm>
            <a:off x="8686800" y="1947672"/>
            <a:ext cx="2743200" cy="1005840"/>
          </a:xfrm>
          <a:prstGeom prst="rect"/>
          <a:noFill/>
        </p:spPr>
        <p:txBody>
          <a:bodyPr anchor="t" wrap="square"/>
          <a:p>
            <a:pPr algn="l">
              <a:defRPr b="0" sz="1100">
                <a:solidFill>
                  <a:srgbClr val="6B7B8D"/>
                </a:solidFill>
                <a:latin typeface="Calibri"/>
              </a:defRPr>
            </a:pPr>
            <a:r>
              <a:t>Surface exact passages reviewers</a:t>
            </a:r>
            <a:br/>
            <a:r>
              <a:t>need — diagnosis, medications, lab</a:t>
            </a:r>
            <a:br/>
            <a:r>
              <a:t>values — with source citations.</a:t>
            </a:r>
          </a:p>
        </p:txBody>
      </p:sp>
      <p:sp>
        <p:nvSpPr>
          <p:cNvPr id="1048868" name="Rounded Rectangle 20"/>
          <p:cNvSpPr/>
          <p:nvPr/>
        </p:nvSpPr>
        <p:spPr>
          <a:xfrm>
            <a:off x="640080" y="3246120"/>
            <a:ext cx="3429000" cy="150876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69" name="Rectangle 21"/>
          <p:cNvSpPr/>
          <p:nvPr/>
        </p:nvSpPr>
        <p:spPr>
          <a:xfrm>
            <a:off x="640080" y="3246120"/>
            <a:ext cx="54864" cy="1508760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70" name="TextBox 22"/>
          <p:cNvSpPr txBox="1"/>
          <p:nvPr/>
        </p:nvSpPr>
        <p:spPr>
          <a:xfrm>
            <a:off x="822960" y="3355848"/>
            <a:ext cx="365760" cy="320040"/>
          </a:xfrm>
          <a:prstGeom prst="rect"/>
          <a:noFill/>
        </p:spPr>
        <p:txBody>
          <a:bodyPr anchor="t" wrap="square"/>
          <a:p>
            <a:pPr algn="l">
              <a:defRPr b="0" sz="2200">
                <a:solidFill>
                  <a:srgbClr val="2B8EC4"/>
                </a:solidFill>
                <a:latin typeface="Calibri"/>
              </a:defRPr>
            </a:pPr>
            <a:r>
              <a:t>🏷️</a:t>
            </a:r>
          </a:p>
        </p:txBody>
      </p:sp>
      <p:sp>
        <p:nvSpPr>
          <p:cNvPr id="1048871" name="TextBox 23"/>
          <p:cNvSpPr txBox="1"/>
          <p:nvPr/>
        </p:nvSpPr>
        <p:spPr>
          <a:xfrm>
            <a:off x="1188720" y="3355848"/>
            <a:ext cx="2743200" cy="274320"/>
          </a:xfrm>
          <a:prstGeom prst="rect"/>
          <a:noFill/>
        </p:spPr>
        <p:txBody>
          <a:bodyPr anchor="t" wrap="square"/>
          <a:p>
            <a:pPr algn="l">
              <a:defRPr b="1" sz="1400">
                <a:solidFill>
                  <a:srgbClr val="0F2B46"/>
                </a:solidFill>
                <a:latin typeface="Aptos"/>
              </a:defRPr>
            </a:pPr>
            <a:r>
              <a:t>Medical Coding Assistance</a:t>
            </a:r>
          </a:p>
        </p:txBody>
      </p:sp>
      <p:sp>
        <p:nvSpPr>
          <p:cNvPr id="1048872" name="TextBox 24"/>
          <p:cNvSpPr txBox="1"/>
          <p:nvPr/>
        </p:nvSpPr>
        <p:spPr>
          <a:xfrm>
            <a:off x="1188720" y="3685032"/>
            <a:ext cx="2743200" cy="1005840"/>
          </a:xfrm>
          <a:prstGeom prst="rect"/>
          <a:noFill/>
        </p:spPr>
        <p:txBody>
          <a:bodyPr anchor="t" wrap="square"/>
          <a:p>
            <a:pPr algn="l">
              <a:defRPr b="0" sz="1100">
                <a:solidFill>
                  <a:srgbClr val="6B7B8D"/>
                </a:solidFill>
                <a:latin typeface="Calibri"/>
              </a:defRPr>
            </a:pPr>
            <a:r>
              <a:t>Source-cited Q&amp;A helps coders</a:t>
            </a:r>
            <a:br/>
            <a:r>
              <a:t>verify documentation supports</a:t>
            </a:r>
            <a:br/>
            <a:r>
              <a:t>assigned ICD/CPT codes.</a:t>
            </a:r>
          </a:p>
        </p:txBody>
      </p:sp>
      <p:sp>
        <p:nvSpPr>
          <p:cNvPr id="1048873" name="Rounded Rectangle 25"/>
          <p:cNvSpPr/>
          <p:nvPr/>
        </p:nvSpPr>
        <p:spPr>
          <a:xfrm>
            <a:off x="4389120" y="3246120"/>
            <a:ext cx="3429000" cy="150876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74" name="Rectangle 26"/>
          <p:cNvSpPr/>
          <p:nvPr/>
        </p:nvSpPr>
        <p:spPr>
          <a:xfrm>
            <a:off x="4389120" y="3246120"/>
            <a:ext cx="54864" cy="1508760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75" name="TextBox 27"/>
          <p:cNvSpPr txBox="1"/>
          <p:nvPr/>
        </p:nvSpPr>
        <p:spPr>
          <a:xfrm>
            <a:off x="4572000" y="3355848"/>
            <a:ext cx="365760" cy="320040"/>
          </a:xfrm>
          <a:prstGeom prst="rect"/>
          <a:noFill/>
        </p:spPr>
        <p:txBody>
          <a:bodyPr anchor="t" wrap="square"/>
          <a:p>
            <a:pPr algn="l">
              <a:defRPr b="0" sz="2200">
                <a:solidFill>
                  <a:srgbClr val="2B8EC4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048876" name="TextBox 28"/>
          <p:cNvSpPr txBox="1"/>
          <p:nvPr/>
        </p:nvSpPr>
        <p:spPr>
          <a:xfrm>
            <a:off x="4937760" y="3355848"/>
            <a:ext cx="2743200" cy="274320"/>
          </a:xfrm>
          <a:prstGeom prst="rect"/>
          <a:noFill/>
        </p:spPr>
        <p:txBody>
          <a:bodyPr anchor="t" wrap="square"/>
          <a:p>
            <a:pPr algn="l">
              <a:defRPr b="1" sz="1400">
                <a:solidFill>
                  <a:srgbClr val="0F2B46"/>
                </a:solidFill>
                <a:latin typeface="Aptos"/>
              </a:defRPr>
            </a:pPr>
            <a:r>
              <a:t>Utilization Management</a:t>
            </a:r>
          </a:p>
        </p:txBody>
      </p:sp>
      <p:sp>
        <p:nvSpPr>
          <p:cNvPr id="1048877" name="TextBox 29"/>
          <p:cNvSpPr txBox="1"/>
          <p:nvPr/>
        </p:nvSpPr>
        <p:spPr>
          <a:xfrm>
            <a:off x="4937760" y="3685032"/>
            <a:ext cx="2743200" cy="1005840"/>
          </a:xfrm>
          <a:prstGeom prst="rect"/>
          <a:noFill/>
        </p:spPr>
        <p:txBody>
          <a:bodyPr anchor="t" wrap="square"/>
          <a:p>
            <a:pPr algn="l">
              <a:defRPr b="0" sz="1100">
                <a:solidFill>
                  <a:srgbClr val="6B7B8D"/>
                </a:solidFill>
                <a:latin typeface="Calibri"/>
              </a:defRPr>
            </a:pPr>
            <a:r>
              <a:t>Automated summarization compresses</a:t>
            </a:r>
            <a:br/>
            <a:r>
              <a:t>lengthy clinical records into structured</a:t>
            </a:r>
            <a:br/>
            <a:r>
              <a:t>overviews for authorization decisions.</a:t>
            </a:r>
          </a:p>
        </p:txBody>
      </p:sp>
      <p:sp>
        <p:nvSpPr>
          <p:cNvPr id="1048878" name="Rounded Rectangle 30"/>
          <p:cNvSpPr/>
          <p:nvPr/>
        </p:nvSpPr>
        <p:spPr>
          <a:xfrm>
            <a:off x="8138160" y="3246120"/>
            <a:ext cx="3429000" cy="150876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79" name="Rectangle 31"/>
          <p:cNvSpPr/>
          <p:nvPr/>
        </p:nvSpPr>
        <p:spPr>
          <a:xfrm>
            <a:off x="8138160" y="3246120"/>
            <a:ext cx="54864" cy="1508760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80" name="TextBox 32"/>
          <p:cNvSpPr txBox="1"/>
          <p:nvPr/>
        </p:nvSpPr>
        <p:spPr>
          <a:xfrm>
            <a:off x="8321040" y="3355848"/>
            <a:ext cx="365760" cy="320040"/>
          </a:xfrm>
          <a:prstGeom prst="rect"/>
          <a:noFill/>
        </p:spPr>
        <p:txBody>
          <a:bodyPr anchor="t" wrap="square"/>
          <a:p>
            <a:pPr algn="l">
              <a:defRPr b="0" sz="2200">
                <a:solidFill>
                  <a:srgbClr val="2B8EC4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048881" name="TextBox 33"/>
          <p:cNvSpPr txBox="1"/>
          <p:nvPr/>
        </p:nvSpPr>
        <p:spPr>
          <a:xfrm>
            <a:off x="8686800" y="3355848"/>
            <a:ext cx="2743200" cy="274320"/>
          </a:xfrm>
          <a:prstGeom prst="rect"/>
          <a:noFill/>
        </p:spPr>
        <p:txBody>
          <a:bodyPr anchor="t" wrap="square"/>
          <a:p>
            <a:pPr algn="l">
              <a:defRPr b="1" sz="1400">
                <a:solidFill>
                  <a:srgbClr val="0F2B46"/>
                </a:solidFill>
                <a:latin typeface="Aptos"/>
              </a:defRPr>
            </a:pPr>
            <a:r>
              <a:t>Reviewer Productivity</a:t>
            </a:r>
          </a:p>
        </p:txBody>
      </p:sp>
      <p:sp>
        <p:nvSpPr>
          <p:cNvPr id="1048882" name="TextBox 34"/>
          <p:cNvSpPr txBox="1"/>
          <p:nvPr/>
        </p:nvSpPr>
        <p:spPr>
          <a:xfrm>
            <a:off x="8686800" y="3685032"/>
            <a:ext cx="2743200" cy="1005840"/>
          </a:xfrm>
          <a:prstGeom prst="rect"/>
          <a:noFill/>
        </p:spPr>
        <p:txBody>
          <a:bodyPr anchor="t" wrap="square"/>
          <a:p>
            <a:pPr algn="l">
              <a:defRPr b="0" sz="1100">
                <a:solidFill>
                  <a:srgbClr val="6B7B8D"/>
                </a:solidFill>
                <a:latin typeface="Calibri"/>
              </a:defRPr>
            </a:pPr>
            <a:r>
              <a:t>Sub-second hybrid retrieval replaces</a:t>
            </a:r>
            <a:br/>
            <a:r>
              <a:t>manual keyword search. Built-in</a:t>
            </a:r>
            <a:br/>
            <a:r>
              <a:t>audit trail via page-level citations.</a:t>
            </a:r>
          </a:p>
        </p:txBody>
      </p:sp>
      <p:sp>
        <p:nvSpPr>
          <p:cNvPr id="1048883" name="Rectangle 35"/>
          <p:cNvSpPr/>
          <p:nvPr/>
        </p:nvSpPr>
        <p:spPr>
          <a:xfrm>
            <a:off x="640080" y="5029200"/>
            <a:ext cx="10881360" cy="502920"/>
          </a:xfrm>
          <a:prstGeom prst="rect"/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84" name="TextBox 36"/>
          <p:cNvSpPr txBox="1"/>
          <p:nvPr/>
        </p:nvSpPr>
        <p:spPr>
          <a:xfrm>
            <a:off x="914400" y="5029200"/>
            <a:ext cx="10424160" cy="502920"/>
          </a:xfrm>
          <a:prstGeom prst="rect"/>
          <a:noFill/>
        </p:spPr>
        <p:txBody>
          <a:bodyPr anchor="ctr" wrap="square"/>
          <a:p>
            <a:pPr algn="l">
              <a:defRPr b="0" sz="1200">
                <a:solidFill>
                  <a:srgbClr val="FFFFFF"/>
                </a:solidFill>
                <a:latin typeface="Calibri"/>
              </a:defRPr>
            </a:pPr>
            <a:r>
              <a:t>🔑  Key Insight: The retriever, index, and generator are modular — the same pipeline adapts to different document types without rebuilding.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/>
      </p:grpSpPr>
      <p:sp>
        <p:nvSpPr>
          <p:cNvPr id="1048888" name="Rectangle 1"/>
          <p:cNvSpPr/>
          <p:nvPr/>
        </p:nvSpPr>
        <p:spPr>
          <a:xfrm>
            <a:off x="0" y="0"/>
            <a:ext cx="12191695" cy="54864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89" name="TextBox 2"/>
          <p:cNvSpPr txBox="1"/>
          <p:nvPr/>
        </p:nvSpPr>
        <p:spPr>
          <a:xfrm>
            <a:off x="640080" y="320040"/>
            <a:ext cx="9144000" cy="548640"/>
          </a:xfrm>
          <a:prstGeom prst="rect"/>
          <a:noFill/>
        </p:spPr>
        <p:txBody>
          <a:bodyPr anchor="t" wrap="square"/>
          <a:p>
            <a:pPr algn="l">
              <a:defRPr b="1" sz="3000">
                <a:solidFill>
                  <a:srgbClr val="0F2B46"/>
                </a:solidFill>
                <a:latin typeface="Aptos"/>
              </a:defRPr>
            </a:pPr>
            <a:r>
              <a:t>Risks &amp; Future Scope</a:t>
            </a:r>
          </a:p>
        </p:txBody>
      </p:sp>
      <p:sp>
        <p:nvSpPr>
          <p:cNvPr id="1048890" name="TextBox 3"/>
          <p:cNvSpPr txBox="1"/>
          <p:nvPr/>
        </p:nvSpPr>
        <p:spPr>
          <a:xfrm>
            <a:off x="640080" y="868680"/>
            <a:ext cx="9144000" cy="320040"/>
          </a:xfrm>
          <a:prstGeom prst="rect"/>
          <a:noFill/>
        </p:spPr>
        <p:txBody>
          <a:bodyPr anchor="t" wrap="square"/>
          <a:p>
            <a:pPr algn="l">
              <a:defRPr b="0" sz="1400">
                <a:solidFill>
                  <a:srgbClr val="6B7B8D"/>
                </a:solidFill>
                <a:latin typeface="Calibri"/>
              </a:defRPr>
            </a:pPr>
            <a:r>
              <a:t>Known limitations and enterprise roadmap</a:t>
            </a:r>
          </a:p>
        </p:txBody>
      </p:sp>
      <p:sp>
        <p:nvSpPr>
          <p:cNvPr id="1048891" name="Rectangle 4"/>
          <p:cNvSpPr/>
          <p:nvPr/>
        </p:nvSpPr>
        <p:spPr>
          <a:xfrm>
            <a:off x="640080" y="1188720"/>
            <a:ext cx="1645920" cy="32004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92" name="TextBox 5"/>
          <p:cNvSpPr txBox="1"/>
          <p:nvPr/>
        </p:nvSpPr>
        <p:spPr>
          <a:xfrm>
            <a:off x="640080" y="1508760"/>
            <a:ext cx="5349240" cy="320040"/>
          </a:xfrm>
          <a:prstGeom prst="rect"/>
          <a:noFill/>
        </p:spPr>
        <p:txBody>
          <a:bodyPr anchor="t" wrap="square"/>
          <a:p>
            <a:pPr algn="l">
              <a:defRPr b="1" sz="1800">
                <a:solidFill>
                  <a:srgbClr val="E85D4A"/>
                </a:solidFill>
                <a:latin typeface="Aptos"/>
              </a:defRPr>
            </a:pPr>
            <a:r>
              <a:t>⚠️  Known Limitations</a:t>
            </a:r>
          </a:p>
        </p:txBody>
      </p:sp>
      <p:sp>
        <p:nvSpPr>
          <p:cNvPr id="1048893" name="Rounded Rectangle 6"/>
          <p:cNvSpPr/>
          <p:nvPr/>
        </p:nvSpPr>
        <p:spPr>
          <a:xfrm>
            <a:off x="640080" y="1965960"/>
            <a:ext cx="5349240" cy="749808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94" name="Rectangle 7"/>
          <p:cNvSpPr/>
          <p:nvPr/>
        </p:nvSpPr>
        <p:spPr>
          <a:xfrm>
            <a:off x="640080" y="1965960"/>
            <a:ext cx="54864" cy="749808"/>
          </a:xfrm>
          <a:prstGeom prst="rect"/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95" name="TextBox 8"/>
          <p:cNvSpPr txBox="1"/>
          <p:nvPr/>
        </p:nvSpPr>
        <p:spPr>
          <a:xfrm>
            <a:off x="822960" y="2020824"/>
            <a:ext cx="274320" cy="228600"/>
          </a:xfrm>
          <a:prstGeom prst="rect"/>
          <a:noFill/>
        </p:spPr>
        <p:txBody>
          <a:bodyPr anchor="t" wrap="square"/>
          <a:p>
            <a:pPr algn="l">
              <a:defRPr b="0" sz="1300">
                <a:solidFill>
                  <a:srgbClr val="E85D4A"/>
                </a:solidFill>
                <a:latin typeface="Calibri"/>
              </a:defRPr>
            </a:pPr>
            <a:r>
              <a:t>🔴</a:t>
            </a:r>
          </a:p>
        </p:txBody>
      </p:sp>
      <p:sp>
        <p:nvSpPr>
          <p:cNvPr id="1048896" name="TextBox 9"/>
          <p:cNvSpPr txBox="1"/>
          <p:nvPr/>
        </p:nvSpPr>
        <p:spPr>
          <a:xfrm>
            <a:off x="1051560" y="2020824"/>
            <a:ext cx="4800600" cy="228600"/>
          </a:xfrm>
          <a:prstGeom prst="rect"/>
          <a:noFill/>
        </p:spPr>
        <p:txBody>
          <a:bodyPr anchor="t" wrap="square"/>
          <a:p>
            <a:pPr algn="l">
              <a:defRPr b="1" sz="1200">
                <a:solidFill>
                  <a:srgbClr val="0F2B46"/>
                </a:solidFill>
                <a:latin typeface="Calibri"/>
              </a:defRPr>
            </a:pPr>
            <a:r>
              <a:t>Retrieval Failure</a:t>
            </a:r>
          </a:p>
        </p:txBody>
      </p:sp>
      <p:sp>
        <p:nvSpPr>
          <p:cNvPr id="1048897" name="TextBox 10"/>
          <p:cNvSpPr txBox="1"/>
          <p:nvPr/>
        </p:nvSpPr>
        <p:spPr>
          <a:xfrm>
            <a:off x="1051560" y="2286000"/>
            <a:ext cx="4800600" cy="365760"/>
          </a:xfrm>
          <a:prstGeom prst="rect"/>
          <a:noFill/>
        </p:spPr>
        <p:txBody>
          <a:bodyPr anchor="t" wrap="square"/>
          <a:p>
            <a:pPr algn="l">
              <a:defRPr b="0" sz="1000">
                <a:solidFill>
                  <a:srgbClr val="6B7B8D"/>
                </a:solidFill>
                <a:latin typeface="Calibri"/>
              </a:defRPr>
            </a:pPr>
            <a:r>
              <a:t>Chunking boundaries may split critical sentences, returning incomplete context.</a:t>
            </a:r>
          </a:p>
        </p:txBody>
      </p:sp>
      <p:sp>
        <p:nvSpPr>
          <p:cNvPr id="1048898" name="Rounded Rectangle 11"/>
          <p:cNvSpPr/>
          <p:nvPr/>
        </p:nvSpPr>
        <p:spPr>
          <a:xfrm>
            <a:off x="640080" y="2834640"/>
            <a:ext cx="5349240" cy="749808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99" name="Rectangle 12"/>
          <p:cNvSpPr/>
          <p:nvPr/>
        </p:nvSpPr>
        <p:spPr>
          <a:xfrm>
            <a:off x="640080" y="2834640"/>
            <a:ext cx="54864" cy="749808"/>
          </a:xfrm>
          <a:prstGeom prst="rect"/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00" name="TextBox 13"/>
          <p:cNvSpPr txBox="1"/>
          <p:nvPr/>
        </p:nvSpPr>
        <p:spPr>
          <a:xfrm>
            <a:off x="822960" y="2889504"/>
            <a:ext cx="274320" cy="228600"/>
          </a:xfrm>
          <a:prstGeom prst="rect"/>
          <a:noFill/>
        </p:spPr>
        <p:txBody>
          <a:bodyPr anchor="t" wrap="square"/>
          <a:p>
            <a:pPr algn="l">
              <a:defRPr b="0" sz="1300">
                <a:solidFill>
                  <a:srgbClr val="E85D4A"/>
                </a:solidFill>
                <a:latin typeface="Calibri"/>
              </a:defRPr>
            </a:pPr>
            <a:r>
              <a:t>🔴</a:t>
            </a:r>
          </a:p>
        </p:txBody>
      </p:sp>
      <p:sp>
        <p:nvSpPr>
          <p:cNvPr id="1048901" name="TextBox 14"/>
          <p:cNvSpPr txBox="1"/>
          <p:nvPr/>
        </p:nvSpPr>
        <p:spPr>
          <a:xfrm>
            <a:off x="1051560" y="2889504"/>
            <a:ext cx="4800600" cy="228600"/>
          </a:xfrm>
          <a:prstGeom prst="rect"/>
          <a:noFill/>
        </p:spPr>
        <p:txBody>
          <a:bodyPr anchor="t" wrap="square"/>
          <a:p>
            <a:pPr algn="l">
              <a:defRPr b="1" sz="1200">
                <a:solidFill>
                  <a:srgbClr val="0F2B46"/>
                </a:solidFill>
                <a:latin typeface="Calibri"/>
              </a:defRPr>
            </a:pPr>
            <a:r>
              <a:t>Residual Hallucination</a:t>
            </a:r>
          </a:p>
        </p:txBody>
      </p:sp>
      <p:sp>
        <p:nvSpPr>
          <p:cNvPr id="1048902" name="TextBox 15"/>
          <p:cNvSpPr txBox="1"/>
          <p:nvPr/>
        </p:nvSpPr>
        <p:spPr>
          <a:xfrm>
            <a:off x="1051560" y="3154680"/>
            <a:ext cx="4800600" cy="365760"/>
          </a:xfrm>
          <a:prstGeom prst="rect"/>
          <a:noFill/>
        </p:spPr>
        <p:txBody>
          <a:bodyPr anchor="t" wrap="square"/>
          <a:p>
            <a:pPr algn="l">
              <a:defRPr b="0" sz="1000">
                <a:solidFill>
                  <a:srgbClr val="6B7B8D"/>
                </a:solidFill>
                <a:latin typeface="Calibri"/>
              </a:defRPr>
            </a:pPr>
            <a:r>
              <a:t>RAG reduces but doesn't eliminate hallucination. Human review remains essential.</a:t>
            </a:r>
          </a:p>
        </p:txBody>
      </p:sp>
      <p:sp>
        <p:nvSpPr>
          <p:cNvPr id="1048903" name="Rounded Rectangle 16"/>
          <p:cNvSpPr/>
          <p:nvPr/>
        </p:nvSpPr>
        <p:spPr>
          <a:xfrm>
            <a:off x="640080" y="3703320"/>
            <a:ext cx="5349240" cy="749808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04" name="Rectangle 17"/>
          <p:cNvSpPr/>
          <p:nvPr/>
        </p:nvSpPr>
        <p:spPr>
          <a:xfrm>
            <a:off x="640080" y="3703320"/>
            <a:ext cx="54864" cy="749808"/>
          </a:xfrm>
          <a:prstGeom prst="rect"/>
          <a:solidFill>
            <a:srgbClr val="F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05" name="TextBox 18"/>
          <p:cNvSpPr txBox="1"/>
          <p:nvPr/>
        </p:nvSpPr>
        <p:spPr>
          <a:xfrm>
            <a:off x="822960" y="3758184"/>
            <a:ext cx="274320" cy="228600"/>
          </a:xfrm>
          <a:prstGeom prst="rect"/>
          <a:noFill/>
        </p:spPr>
        <p:txBody>
          <a:bodyPr anchor="t" wrap="square"/>
          <a:p>
            <a:pPr algn="l">
              <a:defRPr b="0" sz="1300">
                <a:solidFill>
                  <a:srgbClr val="E85D4A"/>
                </a:solidFill>
                <a:latin typeface="Calibri"/>
              </a:defRPr>
            </a:pPr>
            <a:r>
              <a:t>🟡</a:t>
            </a:r>
          </a:p>
        </p:txBody>
      </p:sp>
      <p:sp>
        <p:nvSpPr>
          <p:cNvPr id="1048906" name="TextBox 19"/>
          <p:cNvSpPr txBox="1"/>
          <p:nvPr/>
        </p:nvSpPr>
        <p:spPr>
          <a:xfrm>
            <a:off x="1051560" y="3758184"/>
            <a:ext cx="4800600" cy="228600"/>
          </a:xfrm>
          <a:prstGeom prst="rect"/>
          <a:noFill/>
        </p:spPr>
        <p:txBody>
          <a:bodyPr anchor="t" wrap="square"/>
          <a:p>
            <a:pPr algn="l">
              <a:defRPr b="1" sz="1200">
                <a:solidFill>
                  <a:srgbClr val="0F2B46"/>
                </a:solidFill>
                <a:latin typeface="Calibri"/>
              </a:defRPr>
            </a:pPr>
            <a:r>
              <a:t>PHI Exposure</a:t>
            </a:r>
          </a:p>
        </p:txBody>
      </p:sp>
      <p:sp>
        <p:nvSpPr>
          <p:cNvPr id="1048907" name="TextBox 20"/>
          <p:cNvSpPr txBox="1"/>
          <p:nvPr/>
        </p:nvSpPr>
        <p:spPr>
          <a:xfrm>
            <a:off x="1051560" y="4023360"/>
            <a:ext cx="4800600" cy="365760"/>
          </a:xfrm>
          <a:prstGeom prst="rect"/>
          <a:noFill/>
        </p:spPr>
        <p:txBody>
          <a:bodyPr anchor="t" wrap="square"/>
          <a:p>
            <a:pPr algn="l">
              <a:defRPr b="0" sz="1000">
                <a:solidFill>
                  <a:srgbClr val="6B7B8D"/>
                </a:solidFill>
                <a:latin typeface="Calibri"/>
              </a:defRPr>
            </a:pPr>
            <a:r>
              <a:t>External API (OpenAI) requires BAA-covered endpoint or self-hosted model for HIPAA.</a:t>
            </a:r>
          </a:p>
        </p:txBody>
      </p:sp>
      <p:sp>
        <p:nvSpPr>
          <p:cNvPr id="1048908" name="Rounded Rectangle 21"/>
          <p:cNvSpPr/>
          <p:nvPr/>
        </p:nvSpPr>
        <p:spPr>
          <a:xfrm>
            <a:off x="640080" y="4572000"/>
            <a:ext cx="5349240" cy="749808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09" name="Rectangle 22"/>
          <p:cNvSpPr/>
          <p:nvPr/>
        </p:nvSpPr>
        <p:spPr>
          <a:xfrm>
            <a:off x="640080" y="4572000"/>
            <a:ext cx="54864" cy="749808"/>
          </a:xfrm>
          <a:prstGeom prst="rect"/>
          <a:solidFill>
            <a:srgbClr val="F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10" name="TextBox 23"/>
          <p:cNvSpPr txBox="1"/>
          <p:nvPr/>
        </p:nvSpPr>
        <p:spPr>
          <a:xfrm>
            <a:off x="822960" y="4626864"/>
            <a:ext cx="274320" cy="228600"/>
          </a:xfrm>
          <a:prstGeom prst="rect"/>
          <a:noFill/>
        </p:spPr>
        <p:txBody>
          <a:bodyPr anchor="t" wrap="square"/>
          <a:p>
            <a:pPr algn="l">
              <a:defRPr b="0" sz="1300">
                <a:solidFill>
                  <a:srgbClr val="E85D4A"/>
                </a:solidFill>
                <a:latin typeface="Calibri"/>
              </a:defRPr>
            </a:pPr>
            <a:r>
              <a:t>🟡</a:t>
            </a:r>
          </a:p>
        </p:txBody>
      </p:sp>
      <p:sp>
        <p:nvSpPr>
          <p:cNvPr id="1048911" name="TextBox 24"/>
          <p:cNvSpPr txBox="1"/>
          <p:nvPr/>
        </p:nvSpPr>
        <p:spPr>
          <a:xfrm>
            <a:off x="1051560" y="4626864"/>
            <a:ext cx="4800600" cy="228600"/>
          </a:xfrm>
          <a:prstGeom prst="rect"/>
          <a:noFill/>
        </p:spPr>
        <p:txBody>
          <a:bodyPr anchor="t" wrap="square"/>
          <a:p>
            <a:pPr algn="l">
              <a:defRPr b="1" sz="1200">
                <a:solidFill>
                  <a:srgbClr val="0F2B46"/>
                </a:solidFill>
                <a:latin typeface="Calibri"/>
              </a:defRPr>
            </a:pPr>
            <a:r>
              <a:t>Model Maintenance</a:t>
            </a:r>
          </a:p>
        </p:txBody>
      </p:sp>
      <p:sp>
        <p:nvSpPr>
          <p:cNvPr id="1048912" name="TextBox 25"/>
          <p:cNvSpPr txBox="1"/>
          <p:nvPr/>
        </p:nvSpPr>
        <p:spPr>
          <a:xfrm>
            <a:off x="1051560" y="4892040"/>
            <a:ext cx="4800600" cy="365760"/>
          </a:xfrm>
          <a:prstGeom prst="rect"/>
          <a:noFill/>
        </p:spPr>
        <p:txBody>
          <a:bodyPr anchor="t" wrap="square"/>
          <a:p>
            <a:pPr algn="l">
              <a:defRPr b="0" sz="1000">
                <a:solidFill>
                  <a:srgbClr val="6B7B8D"/>
                </a:solidFill>
                <a:latin typeface="Calibri"/>
              </a:defRPr>
            </a:pPr>
            <a:r>
              <a:t>LLM provider updates can cause silent behavior changes. Version-pinning needed.</a:t>
            </a:r>
          </a:p>
        </p:txBody>
      </p:sp>
      <p:sp>
        <p:nvSpPr>
          <p:cNvPr id="1048913" name="TextBox 26"/>
          <p:cNvSpPr txBox="1"/>
          <p:nvPr/>
        </p:nvSpPr>
        <p:spPr>
          <a:xfrm>
            <a:off x="6263640" y="1508760"/>
            <a:ext cx="5349240" cy="320040"/>
          </a:xfrm>
          <a:prstGeom prst="rect"/>
          <a:noFill/>
        </p:spPr>
        <p:txBody>
          <a:bodyPr anchor="t" wrap="square"/>
          <a:p>
            <a:pPr algn="l">
              <a:defRPr b="1" sz="1800">
                <a:solidFill>
                  <a:srgbClr val="00A37D"/>
                </a:solidFill>
                <a:latin typeface="Aptos"/>
              </a:defRPr>
            </a:pPr>
            <a:r>
              <a:t>🚀  Future Scope</a:t>
            </a:r>
          </a:p>
        </p:txBody>
      </p:sp>
      <p:sp>
        <p:nvSpPr>
          <p:cNvPr id="1048914" name="Rounded Rectangle 27"/>
          <p:cNvSpPr/>
          <p:nvPr/>
        </p:nvSpPr>
        <p:spPr>
          <a:xfrm>
            <a:off x="6263640" y="1965960"/>
            <a:ext cx="5349240" cy="749808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15" name="Rectangle 28"/>
          <p:cNvSpPr/>
          <p:nvPr/>
        </p:nvSpPr>
        <p:spPr>
          <a:xfrm>
            <a:off x="6263640" y="1965960"/>
            <a:ext cx="54864" cy="749808"/>
          </a:xfrm>
          <a:prstGeom prst="rect"/>
          <a:solidFill>
            <a:srgbClr val="00A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16" name="TextBox 29"/>
          <p:cNvSpPr txBox="1"/>
          <p:nvPr/>
        </p:nvSpPr>
        <p:spPr>
          <a:xfrm>
            <a:off x="6446520" y="2020824"/>
            <a:ext cx="274320" cy="228600"/>
          </a:xfrm>
          <a:prstGeom prst="rect"/>
          <a:noFill/>
        </p:spPr>
        <p:txBody>
          <a:bodyPr anchor="t" wrap="square"/>
          <a:p>
            <a:pPr algn="l">
              <a:defRPr b="0" sz="1300">
                <a:solidFill>
                  <a:srgbClr val="00A37D"/>
                </a:solidFill>
                <a:latin typeface="Calibri"/>
              </a:defRPr>
            </a:pPr>
            <a:r>
              <a:t>✦</a:t>
            </a:r>
          </a:p>
        </p:txBody>
      </p:sp>
      <p:sp>
        <p:nvSpPr>
          <p:cNvPr id="1048917" name="TextBox 30"/>
          <p:cNvSpPr txBox="1"/>
          <p:nvPr/>
        </p:nvSpPr>
        <p:spPr>
          <a:xfrm>
            <a:off x="6675120" y="2020824"/>
            <a:ext cx="4800600" cy="228600"/>
          </a:xfrm>
          <a:prstGeom prst="rect"/>
          <a:noFill/>
        </p:spPr>
        <p:txBody>
          <a:bodyPr anchor="t" wrap="square"/>
          <a:p>
            <a:pPr algn="l">
              <a:defRPr b="1" sz="1200">
                <a:solidFill>
                  <a:srgbClr val="0F2B46"/>
                </a:solidFill>
                <a:latin typeface="Calibri"/>
              </a:defRPr>
            </a:pPr>
            <a:r>
              <a:t>Domain-Specific Embeddings</a:t>
            </a:r>
          </a:p>
        </p:txBody>
      </p:sp>
      <p:sp>
        <p:nvSpPr>
          <p:cNvPr id="1048918" name="TextBox 31"/>
          <p:cNvSpPr txBox="1"/>
          <p:nvPr/>
        </p:nvSpPr>
        <p:spPr>
          <a:xfrm>
            <a:off x="6675120" y="2286000"/>
            <a:ext cx="4800600" cy="365760"/>
          </a:xfrm>
          <a:prstGeom prst="rect"/>
          <a:noFill/>
        </p:spPr>
        <p:txBody>
          <a:bodyPr anchor="t" wrap="square"/>
          <a:p>
            <a:pPr algn="l">
              <a:defRPr b="0" sz="1000">
                <a:solidFill>
                  <a:srgbClr val="6B7B8D"/>
                </a:solidFill>
                <a:latin typeface="Calibri"/>
              </a:defRPr>
            </a:pPr>
            <a:r>
              <a:t>Fine-tune on Cotiviti's clinical corpora for better retrieval precision.</a:t>
            </a:r>
          </a:p>
        </p:txBody>
      </p:sp>
      <p:sp>
        <p:nvSpPr>
          <p:cNvPr id="1048919" name="Rounded Rectangle 32"/>
          <p:cNvSpPr/>
          <p:nvPr/>
        </p:nvSpPr>
        <p:spPr>
          <a:xfrm>
            <a:off x="6263640" y="2834640"/>
            <a:ext cx="5349240" cy="749808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20" name="Rectangle 33"/>
          <p:cNvSpPr/>
          <p:nvPr/>
        </p:nvSpPr>
        <p:spPr>
          <a:xfrm>
            <a:off x="6263640" y="2834640"/>
            <a:ext cx="54864" cy="749808"/>
          </a:xfrm>
          <a:prstGeom prst="rect"/>
          <a:solidFill>
            <a:srgbClr val="00A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21" name="TextBox 34"/>
          <p:cNvSpPr txBox="1"/>
          <p:nvPr/>
        </p:nvSpPr>
        <p:spPr>
          <a:xfrm>
            <a:off x="6446520" y="2889504"/>
            <a:ext cx="274320" cy="228600"/>
          </a:xfrm>
          <a:prstGeom prst="rect"/>
          <a:noFill/>
        </p:spPr>
        <p:txBody>
          <a:bodyPr anchor="t" wrap="square"/>
          <a:p>
            <a:pPr algn="l">
              <a:defRPr b="0" sz="1300">
                <a:solidFill>
                  <a:srgbClr val="00A37D"/>
                </a:solidFill>
                <a:latin typeface="Calibri"/>
              </a:defRPr>
            </a:pPr>
            <a:r>
              <a:t>✦</a:t>
            </a:r>
          </a:p>
        </p:txBody>
      </p:sp>
      <p:sp>
        <p:nvSpPr>
          <p:cNvPr id="1048922" name="TextBox 35"/>
          <p:cNvSpPr txBox="1"/>
          <p:nvPr/>
        </p:nvSpPr>
        <p:spPr>
          <a:xfrm>
            <a:off x="6675120" y="2889504"/>
            <a:ext cx="4800600" cy="228600"/>
          </a:xfrm>
          <a:prstGeom prst="rect"/>
          <a:noFill/>
        </p:spPr>
        <p:txBody>
          <a:bodyPr anchor="t" wrap="square"/>
          <a:p>
            <a:pPr algn="l">
              <a:defRPr b="1" sz="1200">
                <a:solidFill>
                  <a:srgbClr val="0F2B46"/>
                </a:solidFill>
                <a:latin typeface="Calibri"/>
              </a:defRPr>
            </a:pPr>
            <a:r>
              <a:t>ICD-10 &amp; CPT Extraction</a:t>
            </a:r>
          </a:p>
        </p:txBody>
      </p:sp>
      <p:sp>
        <p:nvSpPr>
          <p:cNvPr id="1048923" name="TextBox 36"/>
          <p:cNvSpPr txBox="1"/>
          <p:nvPr/>
        </p:nvSpPr>
        <p:spPr>
          <a:xfrm>
            <a:off x="6675120" y="3154680"/>
            <a:ext cx="4800600" cy="365760"/>
          </a:xfrm>
          <a:prstGeom prst="rect"/>
          <a:noFill/>
        </p:spPr>
        <p:txBody>
          <a:bodyPr anchor="t" wrap="square"/>
          <a:p>
            <a:pPr algn="l">
              <a:defRPr b="0" sz="1000">
                <a:solidFill>
                  <a:srgbClr val="6B7B8D"/>
                </a:solidFill>
                <a:latin typeface="Calibri"/>
              </a:defRPr>
            </a:pPr>
            <a:r>
              <a:t>Automated entity extraction for coding validation and suggestions.</a:t>
            </a:r>
          </a:p>
        </p:txBody>
      </p:sp>
      <p:sp>
        <p:nvSpPr>
          <p:cNvPr id="1048924" name="Rounded Rectangle 37"/>
          <p:cNvSpPr/>
          <p:nvPr/>
        </p:nvSpPr>
        <p:spPr>
          <a:xfrm>
            <a:off x="6263640" y="3703320"/>
            <a:ext cx="5349240" cy="749808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25" name="Rectangle 38"/>
          <p:cNvSpPr/>
          <p:nvPr/>
        </p:nvSpPr>
        <p:spPr>
          <a:xfrm>
            <a:off x="6263640" y="3703320"/>
            <a:ext cx="54864" cy="749808"/>
          </a:xfrm>
          <a:prstGeom prst="rect"/>
          <a:solidFill>
            <a:srgbClr val="00A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26" name="TextBox 39"/>
          <p:cNvSpPr txBox="1"/>
          <p:nvPr/>
        </p:nvSpPr>
        <p:spPr>
          <a:xfrm>
            <a:off x="6446520" y="3758184"/>
            <a:ext cx="274320" cy="228600"/>
          </a:xfrm>
          <a:prstGeom prst="rect"/>
          <a:noFill/>
        </p:spPr>
        <p:txBody>
          <a:bodyPr anchor="t" wrap="square"/>
          <a:p>
            <a:pPr algn="l">
              <a:defRPr b="0" sz="1300">
                <a:solidFill>
                  <a:srgbClr val="00A37D"/>
                </a:solidFill>
                <a:latin typeface="Calibri"/>
              </a:defRPr>
            </a:pPr>
            <a:r>
              <a:t>✦</a:t>
            </a:r>
          </a:p>
        </p:txBody>
      </p:sp>
      <p:sp>
        <p:nvSpPr>
          <p:cNvPr id="1048927" name="TextBox 40"/>
          <p:cNvSpPr txBox="1"/>
          <p:nvPr/>
        </p:nvSpPr>
        <p:spPr>
          <a:xfrm>
            <a:off x="6675120" y="3758184"/>
            <a:ext cx="4800600" cy="228600"/>
          </a:xfrm>
          <a:prstGeom prst="rect"/>
          <a:noFill/>
        </p:spPr>
        <p:txBody>
          <a:bodyPr anchor="t" wrap="square"/>
          <a:p>
            <a:pPr algn="l">
              <a:defRPr b="1" sz="1200">
                <a:solidFill>
                  <a:srgbClr val="0F2B46"/>
                </a:solidFill>
                <a:latin typeface="Calibri"/>
              </a:defRPr>
            </a:pPr>
            <a:r>
              <a:t>HIPAA Compliance</a:t>
            </a:r>
          </a:p>
        </p:txBody>
      </p:sp>
      <p:sp>
        <p:nvSpPr>
          <p:cNvPr id="1048928" name="TextBox 41"/>
          <p:cNvSpPr txBox="1"/>
          <p:nvPr/>
        </p:nvSpPr>
        <p:spPr>
          <a:xfrm>
            <a:off x="6675120" y="4023360"/>
            <a:ext cx="4800600" cy="365760"/>
          </a:xfrm>
          <a:prstGeom prst="rect"/>
          <a:noFill/>
        </p:spPr>
        <p:txBody>
          <a:bodyPr anchor="t" wrap="square"/>
          <a:p>
            <a:pPr algn="l">
              <a:defRPr b="0" sz="1000">
                <a:solidFill>
                  <a:srgbClr val="6B7B8D"/>
                </a:solidFill>
                <a:latin typeface="Calibri"/>
              </a:defRPr>
            </a:pPr>
            <a:r>
              <a:t>PHI de-identification, role-based access control, audit logging.</a:t>
            </a:r>
          </a:p>
        </p:txBody>
      </p:sp>
      <p:sp>
        <p:nvSpPr>
          <p:cNvPr id="1048929" name="Rounded Rectangle 42"/>
          <p:cNvSpPr/>
          <p:nvPr/>
        </p:nvSpPr>
        <p:spPr>
          <a:xfrm>
            <a:off x="6263640" y="4572000"/>
            <a:ext cx="5349240" cy="749808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30" name="Rectangle 43"/>
          <p:cNvSpPr/>
          <p:nvPr/>
        </p:nvSpPr>
        <p:spPr>
          <a:xfrm>
            <a:off x="6263640" y="4572000"/>
            <a:ext cx="54864" cy="749808"/>
          </a:xfrm>
          <a:prstGeom prst="rect"/>
          <a:solidFill>
            <a:srgbClr val="00A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31" name="TextBox 44"/>
          <p:cNvSpPr txBox="1"/>
          <p:nvPr/>
        </p:nvSpPr>
        <p:spPr>
          <a:xfrm>
            <a:off x="6446520" y="4626864"/>
            <a:ext cx="274320" cy="228600"/>
          </a:xfrm>
          <a:prstGeom prst="rect"/>
          <a:noFill/>
        </p:spPr>
        <p:txBody>
          <a:bodyPr anchor="t" wrap="square"/>
          <a:p>
            <a:pPr algn="l">
              <a:defRPr b="0" sz="1300">
                <a:solidFill>
                  <a:srgbClr val="00A37D"/>
                </a:solidFill>
                <a:latin typeface="Calibri"/>
              </a:defRPr>
            </a:pPr>
            <a:r>
              <a:t>✦</a:t>
            </a:r>
          </a:p>
        </p:txBody>
      </p:sp>
      <p:sp>
        <p:nvSpPr>
          <p:cNvPr id="1048932" name="TextBox 45"/>
          <p:cNvSpPr txBox="1"/>
          <p:nvPr/>
        </p:nvSpPr>
        <p:spPr>
          <a:xfrm>
            <a:off x="6675120" y="4626864"/>
            <a:ext cx="4800600" cy="228600"/>
          </a:xfrm>
          <a:prstGeom prst="rect"/>
          <a:noFill/>
        </p:spPr>
        <p:txBody>
          <a:bodyPr anchor="t" wrap="square"/>
          <a:p>
            <a:pPr algn="l">
              <a:defRPr b="1" sz="1200">
                <a:solidFill>
                  <a:srgbClr val="0F2B46"/>
                </a:solidFill>
                <a:latin typeface="Calibri"/>
              </a:defRPr>
            </a:pPr>
            <a:r>
              <a:t>Multi-Document Comparison</a:t>
            </a:r>
          </a:p>
        </p:txBody>
      </p:sp>
      <p:sp>
        <p:nvSpPr>
          <p:cNvPr id="1048933" name="TextBox 46"/>
          <p:cNvSpPr txBox="1"/>
          <p:nvPr/>
        </p:nvSpPr>
        <p:spPr>
          <a:xfrm>
            <a:off x="6675120" y="4892040"/>
            <a:ext cx="4800600" cy="365760"/>
          </a:xfrm>
          <a:prstGeom prst="rect"/>
          <a:noFill/>
        </p:spPr>
        <p:txBody>
          <a:bodyPr anchor="t" wrap="square"/>
          <a:p>
            <a:pPr algn="l">
              <a:defRPr b="0" sz="1000">
                <a:solidFill>
                  <a:srgbClr val="6B7B8D"/>
                </a:solidFill>
                <a:latin typeface="Calibri"/>
              </a:defRPr>
            </a:pPr>
            <a:r>
              <a:t>Side-by-side analysis of clinical notes vs. billing policies.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/>
      </p:grpSpPr>
      <p:sp>
        <p:nvSpPr>
          <p:cNvPr id="1048937" name="Rectangle 1"/>
          <p:cNvSpPr/>
          <p:nvPr/>
        </p:nvSpPr>
        <p:spPr>
          <a:xfrm>
            <a:off x="0" y="0"/>
            <a:ext cx="12191695" cy="54864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38" name="TextBox 2"/>
          <p:cNvSpPr txBox="1"/>
          <p:nvPr/>
        </p:nvSpPr>
        <p:spPr>
          <a:xfrm>
            <a:off x="640080" y="320040"/>
            <a:ext cx="9144000" cy="548640"/>
          </a:xfrm>
          <a:prstGeom prst="rect"/>
          <a:noFill/>
        </p:spPr>
        <p:txBody>
          <a:bodyPr anchor="t" wrap="square"/>
          <a:p>
            <a:pPr algn="l">
              <a:defRPr b="1" sz="3000">
                <a:solidFill>
                  <a:srgbClr val="0F2B4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048939" name="TextBox 3"/>
          <p:cNvSpPr txBox="1"/>
          <p:nvPr/>
        </p:nvSpPr>
        <p:spPr>
          <a:xfrm>
            <a:off x="640080" y="868680"/>
            <a:ext cx="9144000" cy="320040"/>
          </a:xfrm>
          <a:prstGeom prst="rect"/>
          <a:noFill/>
        </p:spPr>
        <p:txBody>
          <a:bodyPr anchor="t" wrap="square"/>
          <a:p>
            <a:pPr algn="l">
              <a:defRPr b="0" sz="1400">
                <a:solidFill>
                  <a:srgbClr val="6B7B8D"/>
                </a:solidFill>
                <a:latin typeface="Calibri"/>
              </a:defRPr>
            </a:pPr>
            <a:r>
              <a:t>Why hybrid RAG is the right approach for clinical document intelligence</a:t>
            </a:r>
          </a:p>
        </p:txBody>
      </p:sp>
      <p:sp>
        <p:nvSpPr>
          <p:cNvPr id="1048940" name="Rectangle 4"/>
          <p:cNvSpPr/>
          <p:nvPr/>
        </p:nvSpPr>
        <p:spPr>
          <a:xfrm>
            <a:off x="640080" y="1188720"/>
            <a:ext cx="1645920" cy="32004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41" name="Rounded Rectangle 5"/>
          <p:cNvSpPr/>
          <p:nvPr/>
        </p:nvSpPr>
        <p:spPr>
          <a:xfrm>
            <a:off x="640080" y="1600200"/>
            <a:ext cx="3383280" cy="164592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42" name="Rectangle 6"/>
          <p:cNvSpPr/>
          <p:nvPr/>
        </p:nvSpPr>
        <p:spPr>
          <a:xfrm>
            <a:off x="640080" y="1600200"/>
            <a:ext cx="3383280" cy="54864"/>
          </a:xfrm>
          <a:prstGeom prst="rect"/>
          <a:solidFill>
            <a:srgbClr val="1E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43" name="TextBox 7"/>
          <p:cNvSpPr txBox="1"/>
          <p:nvPr/>
        </p:nvSpPr>
        <p:spPr>
          <a:xfrm>
            <a:off x="640080" y="1783080"/>
            <a:ext cx="3383280" cy="365760"/>
          </a:xfrm>
          <a:prstGeom prst="rect"/>
          <a:noFill/>
        </p:spPr>
        <p:txBody>
          <a:bodyPr anchor="t" wrap="square"/>
          <a:p>
            <a:pPr algn="ctr">
              <a:defRPr b="0" sz="3000">
                <a:solidFill>
                  <a:srgbClr val="1E5A8C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048944" name="TextBox 8"/>
          <p:cNvSpPr txBox="1"/>
          <p:nvPr/>
        </p:nvSpPr>
        <p:spPr>
          <a:xfrm>
            <a:off x="777240" y="2194560"/>
            <a:ext cx="3108960" cy="274320"/>
          </a:xfrm>
          <a:prstGeom prst="rect"/>
          <a:noFill/>
        </p:spPr>
        <p:txBody>
          <a:bodyPr anchor="t" wrap="square"/>
          <a:p>
            <a:pPr algn="ctr">
              <a:defRPr b="1" sz="1500">
                <a:solidFill>
                  <a:srgbClr val="0F2B46"/>
                </a:solidFill>
                <a:latin typeface="Calibri"/>
              </a:defRPr>
            </a:pPr>
            <a:r>
              <a:t>Hybrid Retrieval Works</a:t>
            </a:r>
          </a:p>
        </p:txBody>
      </p:sp>
      <p:sp>
        <p:nvSpPr>
          <p:cNvPr id="1048945" name="TextBox 9"/>
          <p:cNvSpPr txBox="1"/>
          <p:nvPr/>
        </p:nvSpPr>
        <p:spPr>
          <a:xfrm>
            <a:off x="777240" y="2514600"/>
            <a:ext cx="3108960" cy="640080"/>
          </a:xfrm>
          <a:prstGeom prst="rect"/>
          <a:noFill/>
        </p:spPr>
        <p:txBody>
          <a:bodyPr anchor="t" wrap="square"/>
          <a:p>
            <a:pPr algn="ctr">
              <a:defRPr b="0" sz="1100">
                <a:solidFill>
                  <a:srgbClr val="6B7B8D"/>
                </a:solidFill>
                <a:latin typeface="Calibri"/>
              </a:defRPr>
            </a:pPr>
            <a:r>
              <a:t>Combining BM25 sparse search with</a:t>
            </a:r>
            <a:br/>
            <a:r>
              <a:t>FAISS dense retrieval via Reciprocal</a:t>
            </a:r>
            <a:br/>
            <a:r>
              <a:t>Rank Fusion catches both exact</a:t>
            </a:r>
            <a:br/>
            <a:r>
              <a:t>clinical terms and semantically</a:t>
            </a:r>
            <a:br/>
            <a:r>
              <a:t>related passages.</a:t>
            </a:r>
          </a:p>
        </p:txBody>
      </p:sp>
      <p:sp>
        <p:nvSpPr>
          <p:cNvPr id="1048946" name="Rounded Rectangle 10"/>
          <p:cNvSpPr/>
          <p:nvPr/>
        </p:nvSpPr>
        <p:spPr>
          <a:xfrm>
            <a:off x="4343400" y="1600200"/>
            <a:ext cx="3383280" cy="164592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47" name="Rectangle 11"/>
          <p:cNvSpPr/>
          <p:nvPr/>
        </p:nvSpPr>
        <p:spPr>
          <a:xfrm>
            <a:off x="4343400" y="1600200"/>
            <a:ext cx="3383280" cy="54864"/>
          </a:xfrm>
          <a:prstGeom prst="rect"/>
          <a:solidFill>
            <a:srgbClr val="1E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48" name="TextBox 12"/>
          <p:cNvSpPr txBox="1"/>
          <p:nvPr/>
        </p:nvSpPr>
        <p:spPr>
          <a:xfrm>
            <a:off x="4343400" y="1783080"/>
            <a:ext cx="3383280" cy="365760"/>
          </a:xfrm>
          <a:prstGeom prst="rect"/>
          <a:noFill/>
        </p:spPr>
        <p:txBody>
          <a:bodyPr anchor="t" wrap="square"/>
          <a:p>
            <a:pPr algn="ctr">
              <a:defRPr b="0" sz="3000">
                <a:solidFill>
                  <a:srgbClr val="1E6E9E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1048949" name="TextBox 13"/>
          <p:cNvSpPr txBox="1"/>
          <p:nvPr/>
        </p:nvSpPr>
        <p:spPr>
          <a:xfrm>
            <a:off x="4480560" y="2194560"/>
            <a:ext cx="3108960" cy="274320"/>
          </a:xfrm>
          <a:prstGeom prst="rect"/>
          <a:noFill/>
        </p:spPr>
        <p:txBody>
          <a:bodyPr anchor="t" wrap="square"/>
          <a:p>
            <a:pPr algn="ctr">
              <a:defRPr b="1" sz="1500">
                <a:solidFill>
                  <a:srgbClr val="0F2B46"/>
                </a:solidFill>
                <a:latin typeface="Calibri"/>
              </a:defRPr>
            </a:pPr>
            <a:r>
              <a:t>Grounding Builds Trust</a:t>
            </a:r>
          </a:p>
        </p:txBody>
      </p:sp>
      <p:sp>
        <p:nvSpPr>
          <p:cNvPr id="1048950" name="TextBox 14"/>
          <p:cNvSpPr txBox="1"/>
          <p:nvPr/>
        </p:nvSpPr>
        <p:spPr>
          <a:xfrm>
            <a:off x="4480560" y="2514600"/>
            <a:ext cx="3108960" cy="640080"/>
          </a:xfrm>
          <a:prstGeom prst="rect"/>
          <a:noFill/>
        </p:spPr>
        <p:txBody>
          <a:bodyPr anchor="t" wrap="square"/>
          <a:p>
            <a:pPr algn="ctr">
              <a:defRPr b="0" sz="1100">
                <a:solidFill>
                  <a:srgbClr val="6B7B8D"/>
                </a:solidFill>
                <a:latin typeface="Calibri"/>
              </a:defRPr>
            </a:pPr>
            <a:r>
              <a:t>Every answer is grounded in the</a:t>
            </a:r>
            <a:br/>
            <a:r>
              <a:t>source document with page-level</a:t>
            </a:r>
            <a:br/>
            <a:r>
              <a:t>citations — creating the audit trail</a:t>
            </a:r>
            <a:br/>
            <a:r>
              <a:t>that regulated healthcare demands.</a:t>
            </a:r>
          </a:p>
        </p:txBody>
      </p:sp>
      <p:sp>
        <p:nvSpPr>
          <p:cNvPr id="1048951" name="Rounded Rectangle 15"/>
          <p:cNvSpPr/>
          <p:nvPr/>
        </p:nvSpPr>
        <p:spPr>
          <a:xfrm>
            <a:off x="8046720" y="1600200"/>
            <a:ext cx="3383280" cy="1645920"/>
          </a:xfrm>
          <a:prstGeom prst="roundRect"/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52" name="Rectangle 16"/>
          <p:cNvSpPr/>
          <p:nvPr/>
        </p:nvSpPr>
        <p:spPr>
          <a:xfrm>
            <a:off x="8046720" y="1600200"/>
            <a:ext cx="3383280" cy="54864"/>
          </a:xfrm>
          <a:prstGeom prst="rect"/>
          <a:solidFill>
            <a:srgbClr val="00A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53" name="TextBox 17"/>
          <p:cNvSpPr txBox="1"/>
          <p:nvPr/>
        </p:nvSpPr>
        <p:spPr>
          <a:xfrm>
            <a:off x="8046720" y="1783080"/>
            <a:ext cx="3383280" cy="365760"/>
          </a:xfrm>
          <a:prstGeom prst="rect"/>
          <a:noFill/>
        </p:spPr>
        <p:txBody>
          <a:bodyPr anchor="t" wrap="square"/>
          <a:p>
            <a:pPr algn="ctr">
              <a:defRPr b="0" sz="3000">
                <a:solidFill>
                  <a:srgbClr val="00A37D"/>
                </a:solidFill>
                <a:latin typeface="Calibri"/>
              </a:defRPr>
            </a:pPr>
            <a:r>
              <a:t>🏢</a:t>
            </a:r>
          </a:p>
        </p:txBody>
      </p:sp>
      <p:sp>
        <p:nvSpPr>
          <p:cNvPr id="1048954" name="TextBox 18"/>
          <p:cNvSpPr txBox="1"/>
          <p:nvPr/>
        </p:nvSpPr>
        <p:spPr>
          <a:xfrm>
            <a:off x="8183880" y="2194560"/>
            <a:ext cx="3108960" cy="274320"/>
          </a:xfrm>
          <a:prstGeom prst="rect"/>
          <a:noFill/>
        </p:spPr>
        <p:txBody>
          <a:bodyPr anchor="t" wrap="square"/>
          <a:p>
            <a:pPr algn="ctr">
              <a:defRPr b="1" sz="1500">
                <a:solidFill>
                  <a:srgbClr val="0F2B46"/>
                </a:solidFill>
                <a:latin typeface="Calibri"/>
              </a:defRPr>
            </a:pPr>
            <a:r>
              <a:t>Ready for Cotiviti</a:t>
            </a:r>
          </a:p>
        </p:txBody>
      </p:sp>
      <p:sp>
        <p:nvSpPr>
          <p:cNvPr id="1048955" name="TextBox 19"/>
          <p:cNvSpPr txBox="1"/>
          <p:nvPr/>
        </p:nvSpPr>
        <p:spPr>
          <a:xfrm>
            <a:off x="8183880" y="2514600"/>
            <a:ext cx="3108960" cy="640080"/>
          </a:xfrm>
          <a:prstGeom prst="rect"/>
          <a:noFill/>
        </p:spPr>
        <p:txBody>
          <a:bodyPr anchor="t" wrap="square"/>
          <a:p>
            <a:pPr algn="ctr">
              <a:defRPr b="0" sz="1100">
                <a:solidFill>
                  <a:srgbClr val="6B7B8D"/>
                </a:solidFill>
                <a:latin typeface="Calibri"/>
              </a:defRPr>
            </a:pPr>
            <a:r>
              <a:t>The modular architecture directly</a:t>
            </a:r>
            <a:br/>
            <a:r>
              <a:t>supports payment integrity, clinical</a:t>
            </a:r>
            <a:br/>
            <a:r>
              <a:t>documentation review, and coding</a:t>
            </a:r>
            <a:br/>
            <a:r>
              <a:t>assistance workflows.</a:t>
            </a:r>
          </a:p>
        </p:txBody>
      </p:sp>
      <p:sp>
        <p:nvSpPr>
          <p:cNvPr id="1048956" name="Rectangle 20"/>
          <p:cNvSpPr/>
          <p:nvPr/>
        </p:nvSpPr>
        <p:spPr>
          <a:xfrm>
            <a:off x="640080" y="3566160"/>
            <a:ext cx="10881360" cy="1097280"/>
          </a:xfrm>
          <a:prstGeom prst="rect"/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57" name="TextBox 21"/>
          <p:cNvSpPr txBox="1"/>
          <p:nvPr/>
        </p:nvSpPr>
        <p:spPr>
          <a:xfrm>
            <a:off x="914400" y="3703320"/>
            <a:ext cx="10424160" cy="868680"/>
          </a:xfrm>
          <a:prstGeom prst="rect"/>
          <a:noFill/>
        </p:spPr>
        <p:txBody>
          <a:bodyPr wrap="square"/>
          <a:p>
            <a:pPr algn="ctr">
              <a:defRPr b="0" sz="1500">
                <a:solidFill>
                  <a:srgbClr val="FFFFFF"/>
                </a:solidFill>
                <a:latin typeface="Calibri"/>
              </a:defRPr>
            </a:pPr>
            <a:r>
              <a:t>ClinicalDoc AI demonstrates that hybrid RAG can power real-time clinical document</a:t>
            </a:r>
          </a:p>
          <a:p>
            <a:pPr algn="ctr">
              <a:defRPr b="0" sz="1500">
                <a:solidFill>
                  <a:srgbClr val="FFFFFF"/>
                </a:solidFill>
                <a:latin typeface="Calibri"/>
              </a:defRPr>
            </a:pPr>
            <a:r>
              <a:t>intelligence — assisting, not replacing, human reviewers while maintaining the</a:t>
            </a:r>
          </a:p>
          <a:p>
            <a:pPr algn="ctr">
              <a:defRPr b="0" sz="1500">
                <a:solidFill>
                  <a:srgbClr val="FFFFFF"/>
                </a:solidFill>
                <a:latin typeface="Calibri"/>
              </a:defRPr>
            </a:pPr>
            <a:r>
              <a:t>traceability and auditability that regulated healthcare demands.</a:t>
            </a:r>
          </a:p>
        </p:txBody>
      </p:sp>
      <p:sp>
        <p:nvSpPr>
          <p:cNvPr id="1048958" name="Rounded Rectangle 22"/>
          <p:cNvSpPr/>
          <p:nvPr/>
        </p:nvSpPr>
        <p:spPr>
          <a:xfrm>
            <a:off x="365760" y="4937760"/>
            <a:ext cx="2240280" cy="411480"/>
          </a:xfrm>
          <a:prstGeom prst="roundRect"/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59" name="TextBox 23"/>
          <p:cNvSpPr txBox="1"/>
          <p:nvPr/>
        </p:nvSpPr>
        <p:spPr>
          <a:xfrm>
            <a:off x="365760" y="4937760"/>
            <a:ext cx="2240280" cy="411480"/>
          </a:xfrm>
          <a:prstGeom prst="rect"/>
          <a:noFill/>
        </p:spPr>
        <p:txBody>
          <a:bodyPr anchor="ctr" wrap="square"/>
          <a:p>
            <a:pPr algn="ctr">
              <a:defRPr b="1" sz="1000">
                <a:solidFill>
                  <a:srgbClr val="1E5A8C"/>
                </a:solidFill>
                <a:latin typeface="Calibri"/>
              </a:defRPr>
            </a:pPr>
            <a:r>
              <a:t>✓ BM25 + FAISS Hybrid Search</a:t>
            </a:r>
          </a:p>
        </p:txBody>
      </p:sp>
      <p:sp>
        <p:nvSpPr>
          <p:cNvPr id="1048960" name="Rounded Rectangle 24"/>
          <p:cNvSpPr/>
          <p:nvPr/>
        </p:nvSpPr>
        <p:spPr>
          <a:xfrm>
            <a:off x="2697480" y="4937760"/>
            <a:ext cx="2240280" cy="411480"/>
          </a:xfrm>
          <a:prstGeom prst="roundRect"/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61" name="TextBox 25"/>
          <p:cNvSpPr txBox="1"/>
          <p:nvPr/>
        </p:nvSpPr>
        <p:spPr>
          <a:xfrm>
            <a:off x="2697480" y="4937760"/>
            <a:ext cx="2240280" cy="411480"/>
          </a:xfrm>
          <a:prstGeom prst="rect"/>
          <a:noFill/>
        </p:spPr>
        <p:txBody>
          <a:bodyPr anchor="ctr" wrap="square"/>
          <a:p>
            <a:pPr algn="ctr">
              <a:defRPr b="1" sz="1000">
                <a:solidFill>
                  <a:srgbClr val="1E5A8C"/>
                </a:solidFill>
                <a:latin typeface="Calibri"/>
              </a:defRPr>
            </a:pPr>
            <a:r>
              <a:t>✓ Multi-Query Expansion (×4)</a:t>
            </a:r>
          </a:p>
        </p:txBody>
      </p:sp>
      <p:sp>
        <p:nvSpPr>
          <p:cNvPr id="1048962" name="Rounded Rectangle 26"/>
          <p:cNvSpPr/>
          <p:nvPr/>
        </p:nvSpPr>
        <p:spPr>
          <a:xfrm>
            <a:off x="5029200" y="4937760"/>
            <a:ext cx="2240280" cy="411480"/>
          </a:xfrm>
          <a:prstGeom prst="roundRect"/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63" name="TextBox 27"/>
          <p:cNvSpPr txBox="1"/>
          <p:nvPr/>
        </p:nvSpPr>
        <p:spPr>
          <a:xfrm>
            <a:off x="5029200" y="4937760"/>
            <a:ext cx="2240280" cy="411480"/>
          </a:xfrm>
          <a:prstGeom prst="rect"/>
          <a:noFill/>
        </p:spPr>
        <p:txBody>
          <a:bodyPr anchor="ctr" wrap="square"/>
          <a:p>
            <a:pPr algn="ctr">
              <a:defRPr b="1" sz="1000">
                <a:solidFill>
                  <a:srgbClr val="1E5A8C"/>
                </a:solidFill>
                <a:latin typeface="Calibri"/>
              </a:defRPr>
            </a:pPr>
            <a:r>
              <a:t>✓ RRF Fusion (k=60)</a:t>
            </a:r>
          </a:p>
        </p:txBody>
      </p:sp>
      <p:sp>
        <p:nvSpPr>
          <p:cNvPr id="1048964" name="Rounded Rectangle 28"/>
          <p:cNvSpPr/>
          <p:nvPr/>
        </p:nvSpPr>
        <p:spPr>
          <a:xfrm>
            <a:off x="7360920" y="4937760"/>
            <a:ext cx="2240280" cy="411480"/>
          </a:xfrm>
          <a:prstGeom prst="roundRect"/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65" name="TextBox 29"/>
          <p:cNvSpPr txBox="1"/>
          <p:nvPr/>
        </p:nvSpPr>
        <p:spPr>
          <a:xfrm>
            <a:off x="7360920" y="4937760"/>
            <a:ext cx="2240280" cy="411480"/>
          </a:xfrm>
          <a:prstGeom prst="rect"/>
          <a:noFill/>
        </p:spPr>
        <p:txBody>
          <a:bodyPr anchor="ctr" wrap="square"/>
          <a:p>
            <a:pPr algn="ctr">
              <a:defRPr b="1" sz="1000">
                <a:solidFill>
                  <a:srgbClr val="1E5A8C"/>
                </a:solidFill>
                <a:latin typeface="Calibri"/>
              </a:defRPr>
            </a:pPr>
            <a:r>
              <a:t>✓ GPT-4.1-mini Grounded Generation</a:t>
            </a:r>
          </a:p>
        </p:txBody>
      </p:sp>
      <p:sp>
        <p:nvSpPr>
          <p:cNvPr id="1048966" name="Rounded Rectangle 30"/>
          <p:cNvSpPr/>
          <p:nvPr/>
        </p:nvSpPr>
        <p:spPr>
          <a:xfrm>
            <a:off x="9692640" y="4937760"/>
            <a:ext cx="2240280" cy="411480"/>
          </a:xfrm>
          <a:prstGeom prst="roundRect"/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67" name="TextBox 31"/>
          <p:cNvSpPr txBox="1"/>
          <p:nvPr/>
        </p:nvSpPr>
        <p:spPr>
          <a:xfrm>
            <a:off x="9692640" y="4937760"/>
            <a:ext cx="2240280" cy="411480"/>
          </a:xfrm>
          <a:prstGeom prst="rect"/>
          <a:noFill/>
        </p:spPr>
        <p:txBody>
          <a:bodyPr anchor="ctr" wrap="square"/>
          <a:p>
            <a:pPr algn="ctr">
              <a:defRPr b="1" sz="1000">
                <a:solidFill>
                  <a:srgbClr val="1E5A8C"/>
                </a:solidFill>
                <a:latin typeface="Calibri"/>
              </a:defRPr>
            </a:pPr>
            <a:r>
              <a:t>✓ Page-Level Source Citations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/>
      </p:grpSpPr>
      <p:sp>
        <p:nvSpPr>
          <p:cNvPr id="1048971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72" name="Rectangle 2"/>
          <p:cNvSpPr/>
          <p:nvPr/>
        </p:nvSpPr>
        <p:spPr>
          <a:xfrm>
            <a:off x="0" y="0"/>
            <a:ext cx="12191695" cy="73152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73" name="Rectangle 3"/>
          <p:cNvSpPr/>
          <p:nvPr/>
        </p:nvSpPr>
        <p:spPr>
          <a:xfrm>
            <a:off x="0" y="6784848"/>
            <a:ext cx="12191695" cy="73152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74" name="TextBox 4"/>
          <p:cNvSpPr txBox="1"/>
          <p:nvPr/>
        </p:nvSpPr>
        <p:spPr>
          <a:xfrm>
            <a:off x="1371600" y="1371600"/>
            <a:ext cx="9144000" cy="731520"/>
          </a:xfrm>
          <a:prstGeom prst="rect"/>
          <a:noFill/>
        </p:spPr>
        <p:txBody>
          <a:bodyPr anchor="t" wrap="square"/>
          <a:p>
            <a:pPr algn="ctr">
              <a:defRPr b="0" sz="4800">
                <a:solidFill>
                  <a:srgbClr val="FFFFFF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1048975" name="TextBox 5"/>
          <p:cNvSpPr txBox="1"/>
          <p:nvPr/>
        </p:nvSpPr>
        <p:spPr>
          <a:xfrm>
            <a:off x="1371600" y="2286000"/>
            <a:ext cx="9144000" cy="731520"/>
          </a:xfrm>
          <a:prstGeom prst="rect"/>
          <a:noFill/>
        </p:spPr>
        <p:txBody>
          <a:bodyPr anchor="t" wrap="square"/>
          <a:p>
            <a:pPr algn="ctr">
              <a:defRPr b="1" sz="4800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048976" name="Rectangle 6"/>
          <p:cNvSpPr/>
          <p:nvPr/>
        </p:nvSpPr>
        <p:spPr>
          <a:xfrm>
            <a:off x="5029200" y="3200400"/>
            <a:ext cx="2103120" cy="27432"/>
          </a:xfrm>
          <a:prstGeom prst="rect"/>
          <a:solidFill>
            <a:srgbClr val="2B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77" name="TextBox 7"/>
          <p:cNvSpPr txBox="1"/>
          <p:nvPr/>
        </p:nvSpPr>
        <p:spPr>
          <a:xfrm>
            <a:off x="1371600" y="3474720"/>
            <a:ext cx="9144000" cy="548640"/>
          </a:xfrm>
          <a:prstGeom prst="rect"/>
          <a:noFill/>
        </p:spPr>
        <p:txBody>
          <a:bodyPr anchor="t" wrap="square"/>
          <a:p>
            <a:pPr algn="ctr">
              <a:defRPr b="0" sz="2400">
                <a:solidFill>
                  <a:srgbClr val="2B8EC4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1048978" name="TextBox 8"/>
          <p:cNvSpPr txBox="1"/>
          <p:nvPr/>
        </p:nvSpPr>
        <p:spPr>
          <a:xfrm>
            <a:off x="1371600" y="4297680"/>
            <a:ext cx="9144000" cy="914400"/>
          </a:xfrm>
          <a:prstGeom prst="rect"/>
          <a:noFill/>
        </p:spPr>
        <p:txBody>
          <a:bodyPr wrap="square"/>
          <a:p>
            <a:pPr algn="ctr">
              <a:defRPr b="0" sz="1400">
                <a:solidFill>
                  <a:srgbClr val="8AAACC"/>
                </a:solidFill>
                <a:latin typeface="Calibri"/>
              </a:defRPr>
            </a:pPr>
            <a:r>
              <a:t>ClinicalDoc AI  •  Hybrid RAG  •  Clinical Document Intelligence</a:t>
            </a:r>
          </a:p>
          <a:p>
            <a:pPr algn="ctr">
              <a:defRPr b="0" sz="80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b="0" sz="1300">
                <a:solidFill>
                  <a:srgbClr val="6B8BAB"/>
                </a:solidFill>
                <a:latin typeface="Calibri"/>
              </a:defRPr>
            </a:pPr>
            <a:r>
              <a:t>Cotiviti Intern Assessment  •  Topic 1: Clinical NLP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A015</dc:creator>
  <cp:lastModifiedBy>Steve Canny</cp:lastModifiedBy>
  <dcterms:created xsi:type="dcterms:W3CDTF">2013-01-26T11:14:16Z</dcterms:created>
  <dcterms:modified xsi:type="dcterms:W3CDTF">2026-06-30T07:09:33Z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fdfd60a86f9847cda12459391a04f6cc_23</vt:lpwstr>
  </property>
</Properties>
</file>